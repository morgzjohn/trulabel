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VIVA SCRIPT:</a:t>
            </a:r>
          </a:p>
          <a:p>
            <a:r>
              <a:t>Good morning/afternoon, esteemed evaluators. Today I am presenting TruLabel, an autonomous neuro-symbolic multi-agent platform engineered to audit food packaging claims, compute statutory regulatory compliance under FSSAI and FDA guidelines, and recommend healthier food alternatives.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VIVA TALKING POINT:</a:t>
            </a:r>
          </a:p>
          <a:p>
            <a:r>
              <a:t>Food manufacturers exploit consumer ignorance with deceptive marketing claims. A typical consumer sees 'Made with Real Almonds' or 'Zero Added Sugar', but misses high saturated fats or chemical additives. Even worse, if you ask an LLM, it often hallucinates numbers. This motivated our hybrid neuro-symbolic approach.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HIGHLIGHT:</a:t>
            </a:r>
          </a:p>
          <a:p>
            <a:r>
              <a:t>If the examiner asks: 'What is neuro-symbolic AI?', explain: Neural networks / NLP are great at parsing human language, but terrible at deterministic math. Symbolic AI is great at hard rules and logic. TruLabel marries the two: NLP extracts the claim, while a symbolic expert system executes statutory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DEFENSE POINT:</a:t>
            </a:r>
          </a:p>
          <a:p>
            <a:r>
              <a:t>How do we know the data is accurate? We don't rely on a single database. We implement Bayesian credibility weighting where verified government and laboratory databases (FSSAI at 0.98 and USDA at 0.95) carry higher statistical confidence than crowdsourced entries (0.85).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QUESTION:</a:t>
            </a:r>
          </a:p>
          <a:p>
            <a:r>
              <a:t>'What happens if a product has 0.8g sugar and claims Sugar-Free?'</a:t>
            </a:r>
          </a:p>
          <a:p>
            <a:r>
              <a:t>Under FSSAI Chapter 2 Section 4, Sugar-Free requires less than or equal to 0.5g/100g. The Reality Check engine identifies the 0.3g violation and flags the claim as CONTRADICTED, citing the exact legal clause. This guarantees consumer safety and legal compliance.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QUESTION:</a:t>
            </a:r>
          </a:p>
          <a:p>
            <a:r>
              <a:t>'How do you aggregate multiple claims into a single metric?'</a:t>
            </a:r>
          </a:p>
          <a:p>
            <a:r>
              <a:t>We developed the Marketing Accuracy Score (MAS). It normalizes the validity of all front-of-pack claims between 0 and 100, weighted by data credibility. A product claiming 10 benefits where 3 are contradicted will suffer a severe mathematical penalty, exposing false marketing.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QUESTION:</a:t>
            </a:r>
          </a:p>
          <a:p>
            <a:r>
              <a:t>'Why do some products lack a Nutri-Score in other apps?'</a:t>
            </a:r>
          </a:p>
          <a:p>
            <a:r>
              <a:t>Most food apps fail if sodium or fiber is missing on the label. In TruLabel, we designed Category-Aware Imputation. If a packet of noodles omits sodium, we estimate standard sodium for fried noodle cakes, ensuring the user gets an accurate Nutri-Score D/E instead of an erroneous healthy score.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QUESTION:</a:t>
            </a:r>
          </a:p>
          <a:p>
            <a:r>
              <a:t>'How do you guarantee the recommended product is actually better?'</a:t>
            </a:r>
          </a:p>
          <a:p>
            <a:r>
              <a:t>We implement a two-stage filter. First, an honesty gate disqualifies any candidate with false claims. Second, we apply domain-specific fitness functions. For protein powders, we maximize protein per calorie; for instant noodles, we minimize sodium and additive counts.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TALKING POINT:</a:t>
            </a:r>
          </a:p>
          <a:p>
            <a:r>
              <a:t>Our tech stack is engineered for production scalability. The backend uses FastAPI with asynchronous I/O to query multiple food repositories simultaneously. The frontend is built with React 19 and Tailwind CSS, featuring full dark/light theme persistence, real-time Nutri-Score calculation, and verified product packaging images.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CASE STUDY:</a:t>
            </a:r>
          </a:p>
          <a:p>
            <a:r>
              <a:t>Here is a concrete real-world example: A popular instant noodle brand claims 'Goodness of Wheat &amp; No Added MSG'. TruLabel detects INS 621 in the ingredient list, calculates an excessive sodium content of 1,180mg, penalizes the MAS score down to 33/100, and immediately suggests a healthier whole-wheat or millet alternative.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TIP:</a:t>
            </a:r>
          </a:p>
          <a:p>
            <a:r>
              <a:t>Examiners love asking about data conflicts and algorithmic bias. Referencing the Bayesian credibility weights and the FSANZ protein-capping rule proves you understand the nutritional science as well as the software engineering.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VIVA SCRIPT:</a:t>
            </a:r>
          </a:p>
          <a:p>
            <a:r>
              <a:t>In conclusion, TruLabel bridges the gap between statutory food safety laws and everyday consumer decisions. By grounding AI in deterministic regulatory logic, we replace marketing deception with mathematically verified truth. Thank you, and I am now ready to take any further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 y="1645920"/>
            <a:ext cx="109728" cy="34747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463040"/>
            <a:ext cx="9601200" cy="2011680"/>
          </a:xfrm>
          <a:prstGeom prst="rect">
            <a:avLst/>
          </a:prstGeom>
          <a:noFill/>
        </p:spPr>
        <p:txBody>
          <a:bodyPr wrap="square">
            <a:spAutoFit/>
          </a:bodyPr>
          <a:lstStyle/>
          <a:p>
            <a:pPr>
              <a:spcAft>
                <a:spcPts val="1000"/>
              </a:spcAft>
              <a:defRPr sz="1300" b="1">
                <a:solidFill>
                  <a:srgbClr val="06B6D4"/>
                </a:solidFill>
              </a:defRPr>
            </a:pPr>
            <a:r>
              <a:t>ACADEMIC VIVA &amp; PROJECT DEFENSE</a:t>
            </a:r>
          </a:p>
          <a:p>
            <a:pPr>
              <a:spcAft>
                <a:spcPts val="800"/>
              </a:spcAft>
              <a:defRPr sz="3600" b="1">
                <a:solidFill>
                  <a:srgbClr val="FFFFFF"/>
                </a:solidFill>
              </a:defRPr>
            </a:pPr>
            <a:r>
              <a:t>TruLabel: Neuro-Symbolic Multi-Agent System</a:t>
            </a:r>
          </a:p>
          <a:p>
            <a:pPr>
              <a:defRPr sz="1800">
                <a:solidFill>
                  <a:srgbClr val="CBD5E1"/>
                </a:solidFill>
              </a:defRPr>
            </a:pPr>
            <a:r>
              <a:t>Autonomous Food Label Verification, Regulatory Compliance &amp; Health Optimization</a:t>
            </a:r>
          </a:p>
        </p:txBody>
      </p:sp>
      <p:sp>
        <p:nvSpPr>
          <p:cNvPr id="5" name="Rounded Rectangle 4"/>
          <p:cNvSpPr/>
          <p:nvPr/>
        </p:nvSpPr>
        <p:spPr>
          <a:xfrm>
            <a:off x="1371600" y="3931920"/>
            <a:ext cx="9418320" cy="16459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defRPr>
            </a:pPr>
            <a:r>
              <a:t>• Core Paradigm: Neuro-Symbolic AI + Multi-Agent Deterministic Verification</a:t>
            </a:r>
          </a:p>
          <a:p>
            <a:pPr>
              <a:defRPr sz="1300">
                <a:solidFill>
                  <a:srgbClr val="E2E8F0"/>
                </a:solidFill>
              </a:defRPr>
            </a:pPr>
            <a:r>
              <a:t>• Regulatory Standards: FSSAI (2018/2020), US FDA 21 CFR § 101, Codex Alimentarius</a:t>
            </a:r>
          </a:p>
          <a:p>
            <a:pPr>
              <a:defRPr sz="1300">
                <a:solidFill>
                  <a:srgbClr val="0D9488"/>
                </a:solidFill>
              </a:defRPr>
            </a:pPr>
            <a:r>
              <a:t>• Computational Models: FSANZ Nutri-Score, Bayesian Credibility Fusion, Constrained Optimization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320040"/>
          </a:xfrm>
          <a:prstGeom prst="rect">
            <a:avLst/>
          </a:prstGeom>
          <a:noFill/>
        </p:spPr>
        <p:txBody>
          <a:bodyPr wrap="square">
            <a:spAutoFit/>
          </a:bodyPr>
          <a:lstStyle/>
          <a:p>
            <a:pPr>
              <a:defRPr sz="1000" b="1">
                <a:solidFill>
                  <a:srgbClr val="0D9488"/>
                </a:solidFill>
              </a:defRPr>
            </a:pPr>
            <a:r>
              <a:t>PROBLEM STATEMENT &amp; MOTIVATION</a:t>
            </a:r>
          </a:p>
        </p:txBody>
      </p:sp>
      <p:sp>
        <p:nvSpPr>
          <p:cNvPr id="4" name="TextBox 3"/>
          <p:cNvSpPr txBox="1"/>
          <p:nvPr/>
        </p:nvSpPr>
        <p:spPr>
          <a:xfrm>
            <a:off x="731520" y="640080"/>
            <a:ext cx="10515600" cy="640080"/>
          </a:xfrm>
          <a:prstGeom prst="rect">
            <a:avLst/>
          </a:prstGeom>
          <a:noFill/>
        </p:spPr>
        <p:txBody>
          <a:bodyPr wrap="square">
            <a:spAutoFit/>
          </a:bodyPr>
          <a:lstStyle/>
          <a:p>
            <a:pPr>
              <a:defRPr sz="2400" b="1">
                <a:solidFill>
                  <a:srgbClr val="1E293B"/>
                </a:solidFill>
              </a:defRPr>
            </a:pPr>
            <a:r>
              <a:t>The Problem: The 'Health-Washing' Epidemic</a:t>
            </a:r>
          </a:p>
        </p:txBody>
      </p:sp>
      <p:sp>
        <p:nvSpPr>
          <p:cNvPr id="5" name="Rounded Rectangle 4"/>
          <p:cNvSpPr/>
          <p:nvPr/>
        </p:nvSpPr>
        <p:spPr>
          <a:xfrm>
            <a:off x="731520" y="1463040"/>
            <a:ext cx="3328416"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800"/>
              </a:spcAft>
              <a:defRPr sz="1000" b="1">
                <a:solidFill>
                  <a:srgbClr val="EF4444"/>
                </a:solidFill>
              </a:defRPr>
            </a:pPr>
            <a:r>
              <a:t>CONSUMER EXPLOITATION</a:t>
            </a:r>
          </a:p>
          <a:p>
            <a:pPr>
              <a:spcAft>
                <a:spcPts val="1400"/>
              </a:spcAft>
              <a:defRPr sz="1600" b="1">
                <a:solidFill>
                  <a:srgbClr val="1E293B"/>
                </a:solidFill>
              </a:defRPr>
            </a:pPr>
            <a:r>
              <a:t>1. Misleading Front-of-Pack Claims</a:t>
            </a:r>
          </a:p>
          <a:p>
            <a:pPr>
              <a:spcAft>
                <a:spcPts val="1000"/>
              </a:spcAft>
              <a:defRPr sz="1200">
                <a:solidFill>
                  <a:srgbClr val="334155"/>
                </a:solidFill>
              </a:defRPr>
            </a:pPr>
            <a:r>
              <a:t>• Products market 'Zero Sugar' while substituting hidden syrups (maltodextrin, high-fructose corn syrup).</a:t>
            </a:r>
          </a:p>
          <a:p>
            <a:pPr>
              <a:spcAft>
                <a:spcPts val="1000"/>
              </a:spcAft>
              <a:defRPr sz="1200">
                <a:solidFill>
                  <a:srgbClr val="334155"/>
                </a:solidFill>
              </a:defRPr>
            </a:pPr>
            <a:r>
              <a:t>• 'High Protein' claims placed on products with &lt; 5% protein by caloric density.</a:t>
            </a:r>
          </a:p>
          <a:p>
            <a:pPr>
              <a:spcAft>
                <a:spcPts val="1000"/>
              </a:spcAft>
              <a:defRPr sz="1200">
                <a:solidFill>
                  <a:srgbClr val="334155"/>
                </a:solidFill>
              </a:defRPr>
            </a:pPr>
            <a:r>
              <a:t>• Complex scientific terminology (e.g. INS 621, INS 150d) conceals synthetic additives.</a:t>
            </a:r>
          </a:p>
        </p:txBody>
      </p:sp>
      <p:sp>
        <p:nvSpPr>
          <p:cNvPr id="6" name="Rounded Rectangle 5"/>
          <p:cNvSpPr/>
          <p:nvPr/>
        </p:nvSpPr>
        <p:spPr>
          <a:xfrm>
            <a:off x="4425696" y="1463040"/>
            <a:ext cx="3328416"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800"/>
              </a:spcAft>
              <a:defRPr sz="1000" b="1">
                <a:solidFill>
                  <a:srgbClr val="F59E0B"/>
                </a:solidFill>
              </a:defRPr>
            </a:pPr>
            <a:r>
              <a:t>COMPLIANCE COMPLEXITY</a:t>
            </a:r>
          </a:p>
          <a:p>
            <a:pPr>
              <a:spcAft>
                <a:spcPts val="1400"/>
              </a:spcAft>
              <a:defRPr sz="1600" b="1">
                <a:solidFill>
                  <a:srgbClr val="1E293B"/>
                </a:solidFill>
              </a:defRPr>
            </a:pPr>
            <a:r>
              <a:t>2. Regulatory Enforcement Gap</a:t>
            </a:r>
          </a:p>
          <a:p>
            <a:pPr>
              <a:spcAft>
                <a:spcPts val="1000"/>
              </a:spcAft>
              <a:defRPr sz="1200">
                <a:solidFill>
                  <a:srgbClr val="334155"/>
                </a:solidFill>
              </a:defRPr>
            </a:pPr>
            <a:r>
              <a:t>• FSSAI (2018) and FDA statutes specify strict mathematical cutoffs (e.g. sugar &lt;= 0.5g/100g).</a:t>
            </a:r>
          </a:p>
          <a:p>
            <a:pPr>
              <a:spcAft>
                <a:spcPts val="1000"/>
              </a:spcAft>
              <a:defRPr sz="1200">
                <a:solidFill>
                  <a:srgbClr val="334155"/>
                </a:solidFill>
              </a:defRPr>
            </a:pPr>
            <a:r>
              <a:t>• Consumers cannot cross-reference 100g back-of-pack tables against front-of-pack buzzwords.</a:t>
            </a:r>
          </a:p>
          <a:p>
            <a:pPr>
              <a:spcAft>
                <a:spcPts val="1000"/>
              </a:spcAft>
              <a:defRPr sz="1200">
                <a:solidFill>
                  <a:srgbClr val="334155"/>
                </a:solidFill>
              </a:defRPr>
            </a:pPr>
            <a:r>
              <a:t>• Regulatory bodies lack automated real-time consumer-facing audit tools.</a:t>
            </a:r>
          </a:p>
        </p:txBody>
      </p:sp>
      <p:sp>
        <p:nvSpPr>
          <p:cNvPr id="7" name="Rounded Rectangle 6"/>
          <p:cNvSpPr/>
          <p:nvPr/>
        </p:nvSpPr>
        <p:spPr>
          <a:xfrm>
            <a:off x="8119872" y="1463040"/>
            <a:ext cx="3328416"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800"/>
              </a:spcAft>
              <a:defRPr sz="1000" b="1">
                <a:solidFill>
                  <a:srgbClr val="0D9488"/>
                </a:solidFill>
              </a:defRPr>
            </a:pPr>
            <a:r>
              <a:t>WHY PURE LLMs FAIL</a:t>
            </a:r>
          </a:p>
          <a:p>
            <a:pPr>
              <a:spcAft>
                <a:spcPts val="1400"/>
              </a:spcAft>
              <a:defRPr sz="1600" b="1">
                <a:solidFill>
                  <a:srgbClr val="1E293B"/>
                </a:solidFill>
              </a:defRPr>
            </a:pPr>
            <a:r>
              <a:t>3. The Black-Box AI Trap</a:t>
            </a:r>
          </a:p>
          <a:p>
            <a:pPr>
              <a:spcAft>
                <a:spcPts val="1000"/>
              </a:spcAft>
              <a:defRPr sz="1200">
                <a:solidFill>
                  <a:srgbClr val="334155"/>
                </a:solidFill>
              </a:defRPr>
            </a:pPr>
            <a:r>
              <a:t>• Pure LLMs (e.g. standard ChatGPT) hallucinate numerical nutrient quantities.</a:t>
            </a:r>
          </a:p>
          <a:p>
            <a:pPr>
              <a:spcAft>
                <a:spcPts val="1000"/>
              </a:spcAft>
              <a:defRPr sz="1200">
                <a:solidFill>
                  <a:srgbClr val="334155"/>
                </a:solidFill>
              </a:defRPr>
            </a:pPr>
            <a:r>
              <a:t>• LLMs cannot be legally audited or guarantee statutory consistency.</a:t>
            </a:r>
          </a:p>
          <a:p>
            <a:pPr>
              <a:spcAft>
                <a:spcPts val="1000"/>
              </a:spcAft>
              <a:defRPr sz="1200">
                <a:solidFill>
                  <a:srgbClr val="334155"/>
                </a:solidFill>
              </a:defRPr>
            </a:pPr>
            <a:r>
              <a:t>• Requires a deterministic, verifiable, mathematical decision system.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320040"/>
          </a:xfrm>
          <a:prstGeom prst="rect">
            <a:avLst/>
          </a:prstGeom>
          <a:noFill/>
        </p:spPr>
        <p:txBody>
          <a:bodyPr wrap="square">
            <a:spAutoFit/>
          </a:bodyPr>
          <a:lstStyle/>
          <a:p>
            <a:pPr>
              <a:defRPr sz="1000" b="1">
                <a:solidFill>
                  <a:srgbClr val="0D9488"/>
                </a:solidFill>
              </a:defRPr>
            </a:pPr>
            <a:r>
              <a:t>TECHNICAL ARCHITECTURE</a:t>
            </a:r>
          </a:p>
        </p:txBody>
      </p:sp>
      <p:sp>
        <p:nvSpPr>
          <p:cNvPr id="4" name="TextBox 3"/>
          <p:cNvSpPr txBox="1"/>
          <p:nvPr/>
        </p:nvSpPr>
        <p:spPr>
          <a:xfrm>
            <a:off x="731520" y="640080"/>
            <a:ext cx="10515600" cy="640080"/>
          </a:xfrm>
          <a:prstGeom prst="rect">
            <a:avLst/>
          </a:prstGeom>
          <a:noFill/>
        </p:spPr>
        <p:txBody>
          <a:bodyPr wrap="square">
            <a:spAutoFit/>
          </a:bodyPr>
          <a:lstStyle/>
          <a:p>
            <a:pPr>
              <a:defRPr sz="2400" b="1">
                <a:solidFill>
                  <a:srgbClr val="1E293B"/>
                </a:solidFill>
              </a:defRPr>
            </a:pPr>
            <a:r>
              <a:t>System Architecture: Neuro-Symbolic Multi-Agent Framework</a:t>
            </a:r>
          </a:p>
        </p:txBody>
      </p:sp>
      <p:sp>
        <p:nvSpPr>
          <p:cNvPr id="5" name="Rounded Rectangle 4"/>
          <p:cNvSpPr/>
          <p:nvPr/>
        </p:nvSpPr>
        <p:spPr>
          <a:xfrm>
            <a:off x="731520" y="1463040"/>
            <a:ext cx="438912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00" b="1">
                <a:solidFill>
                  <a:srgbClr val="0D9488"/>
                </a:solidFill>
              </a:defRPr>
            </a:pPr>
            <a:r>
              <a:t>WHY NEURO-SYMBOLIC?</a:t>
            </a:r>
          </a:p>
          <a:p>
            <a:pPr>
              <a:spcAft>
                <a:spcPts val="1200"/>
              </a:spcAft>
              <a:defRPr sz="1600" b="1">
                <a:solidFill>
                  <a:srgbClr val="1E293B"/>
                </a:solidFill>
              </a:defRPr>
            </a:pPr>
            <a:r>
              <a:t>Combining Neural Semantics with Symbolic Determinism</a:t>
            </a:r>
          </a:p>
          <a:p>
            <a:pPr>
              <a:defRPr sz="1300" b="1">
                <a:solidFill>
                  <a:srgbClr val="1E293B"/>
                </a:solidFill>
              </a:defRPr>
            </a:pPr>
            <a:r>
              <a:t>✔ Neural/NLP Layer</a:t>
            </a:r>
          </a:p>
          <a:p>
            <a:pPr>
              <a:spcAft>
                <a:spcPts val="800"/>
              </a:spcAft>
              <a:defRPr sz="1100">
                <a:solidFill>
                  <a:srgbClr val="64748B"/>
                </a:solidFill>
              </a:defRPr>
            </a:pPr>
            <a:r>
              <a:t>Extracts claims from unstructured packaging text, OCR, and marketing headlines.</a:t>
            </a:r>
          </a:p>
          <a:p>
            <a:pPr>
              <a:defRPr sz="1300" b="1">
                <a:solidFill>
                  <a:srgbClr val="1E293B"/>
                </a:solidFill>
              </a:defRPr>
            </a:pPr>
            <a:r>
              <a:t>✔ Symbolic Knowledge Layer</a:t>
            </a:r>
          </a:p>
          <a:p>
            <a:pPr>
              <a:spcAft>
                <a:spcPts val="800"/>
              </a:spcAft>
              <a:defRPr sz="1100">
                <a:solidFill>
                  <a:srgbClr val="64748B"/>
                </a:solidFill>
              </a:defRPr>
            </a:pPr>
            <a:r>
              <a:t>Enforces strict mathematical bounds, legal thresholds (FSSAI/FDA), and Nutri-Score point matrices.</a:t>
            </a:r>
          </a:p>
          <a:p>
            <a:pPr>
              <a:defRPr sz="1300" b="1">
                <a:solidFill>
                  <a:srgbClr val="1E293B"/>
                </a:solidFill>
              </a:defRPr>
            </a:pPr>
            <a:r>
              <a:t>✔ Zero Hallucination</a:t>
            </a:r>
          </a:p>
          <a:p>
            <a:pPr>
              <a:spcAft>
                <a:spcPts val="800"/>
              </a:spcAft>
              <a:defRPr sz="1100">
                <a:solidFill>
                  <a:srgbClr val="64748B"/>
                </a:solidFill>
              </a:defRPr>
            </a:pPr>
            <a:r>
              <a:t>Statutory compliance cannot tolerate false positives. Mathematical rules ensure 100% deterministic verdicts.</a:t>
            </a:r>
          </a:p>
          <a:p>
            <a:pPr>
              <a:defRPr sz="1300" b="1">
                <a:solidFill>
                  <a:srgbClr val="1E293B"/>
                </a:solidFill>
              </a:defRPr>
            </a:pPr>
            <a:r>
              <a:t>✔ Full Auditability</a:t>
            </a:r>
          </a:p>
          <a:p>
            <a:pPr>
              <a:spcAft>
                <a:spcPts val="800"/>
              </a:spcAft>
              <a:defRPr sz="1100">
                <a:solidFill>
                  <a:srgbClr val="64748B"/>
                </a:solidFill>
              </a:defRPr>
            </a:pPr>
            <a:r>
              <a:t>Every decision provides legal citations, formula breakdowns, and ingredient proofs.</a:t>
            </a:r>
          </a:p>
        </p:txBody>
      </p:sp>
      <p:sp>
        <p:nvSpPr>
          <p:cNvPr id="6" name="Rounded Rectangle 5"/>
          <p:cNvSpPr/>
          <p:nvPr/>
        </p:nvSpPr>
        <p:spPr>
          <a:xfrm>
            <a:off x="5394960" y="1463040"/>
            <a:ext cx="603504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100" b="1">
                <a:solidFill>
                  <a:srgbClr val="0D9488"/>
                </a:solidFill>
              </a:defRPr>
            </a:pPr>
            <a:r>
              <a:t>THE 6 SPECIALIZED AGENTS</a:t>
            </a:r>
          </a:p>
          <a:p>
            <a:pPr>
              <a:defRPr sz="1250" b="1">
                <a:solidFill>
                  <a:srgbClr val="1E293B"/>
                </a:solidFill>
              </a:defRPr>
            </a:pPr>
            <a:r>
              <a:t>▶ 1. Claim Extraction Agent</a:t>
            </a:r>
          </a:p>
          <a:p>
            <a:pPr>
              <a:spcAft>
                <a:spcPts val="600"/>
              </a:spcAft>
              <a:defRPr sz="1100">
                <a:solidFill>
                  <a:srgbClr val="475569"/>
                </a:solidFill>
              </a:defRPr>
            </a:pPr>
            <a:r>
              <a:t>NLP &amp; regex parser extracting structured claims (sugar, protein, fats, additives).</a:t>
            </a:r>
          </a:p>
          <a:p>
            <a:pPr>
              <a:defRPr sz="1250" b="1">
                <a:solidFill>
                  <a:srgbClr val="1E293B"/>
                </a:solidFill>
              </a:defRPr>
            </a:pPr>
            <a:r>
              <a:t>▶ 2. Multi-Source Evidence Agent</a:t>
            </a:r>
          </a:p>
          <a:p>
            <a:pPr>
              <a:spcAft>
                <a:spcPts val="600"/>
              </a:spcAft>
              <a:defRPr sz="1100">
                <a:solidFill>
                  <a:srgbClr val="475569"/>
                </a:solidFill>
              </a:defRPr>
            </a:pPr>
            <a:r>
              <a:t>Aggregates FSSAI Curated, USDA FoodData Central &amp; Open Food Facts data.</a:t>
            </a:r>
          </a:p>
          <a:p>
            <a:pPr>
              <a:defRPr sz="1250" b="1">
                <a:solidFill>
                  <a:srgbClr val="1E293B"/>
                </a:solidFill>
              </a:defRPr>
            </a:pPr>
            <a:r>
              <a:t>▶ 3. Credibility Weighting Agent</a:t>
            </a:r>
          </a:p>
          <a:p>
            <a:pPr>
              <a:spcAft>
                <a:spcPts val="600"/>
              </a:spcAft>
              <a:defRPr sz="1100">
                <a:solidFill>
                  <a:srgbClr val="475569"/>
                </a:solidFill>
              </a:defRPr>
            </a:pPr>
            <a:r>
              <a:t>Bayesian information fusion assigning source weights (0.85 - 0.98).</a:t>
            </a:r>
          </a:p>
          <a:p>
            <a:pPr>
              <a:defRPr sz="1250" b="1">
                <a:solidFill>
                  <a:srgbClr val="1E293B"/>
                </a:solidFill>
              </a:defRPr>
            </a:pPr>
            <a:r>
              <a:t>▶ 4. Reality Check Engine</a:t>
            </a:r>
          </a:p>
          <a:p>
            <a:pPr>
              <a:spcAft>
                <a:spcPts val="600"/>
              </a:spcAft>
              <a:defRPr sz="1100">
                <a:solidFill>
                  <a:srgbClr val="475569"/>
                </a:solidFill>
              </a:defRPr>
            </a:pPr>
            <a:r>
              <a:t>Symbolic expert system verifying claims against statutory FSSAI/FDA thresholds.</a:t>
            </a:r>
          </a:p>
          <a:p>
            <a:pPr>
              <a:defRPr sz="1250" b="1">
                <a:solidFill>
                  <a:srgbClr val="1E293B"/>
                </a:solidFill>
              </a:defRPr>
            </a:pPr>
            <a:r>
              <a:t>▶ 5. Nutri-Score Algorithmic Engine</a:t>
            </a:r>
          </a:p>
          <a:p>
            <a:pPr>
              <a:spcAft>
                <a:spcPts val="600"/>
              </a:spcAft>
              <a:defRPr sz="1100">
                <a:solidFill>
                  <a:srgbClr val="475569"/>
                </a:solidFill>
              </a:defRPr>
            </a:pPr>
            <a:r>
              <a:t>FSANZ/Santé Publique France discrete point model with domain imputation.</a:t>
            </a:r>
          </a:p>
          <a:p>
            <a:pPr>
              <a:defRPr sz="1250" b="1">
                <a:solidFill>
                  <a:srgbClr val="1E293B"/>
                </a:solidFill>
              </a:defRPr>
            </a:pPr>
            <a:r>
              <a:t>▶ 6. Dynamic Recommender Agent</a:t>
            </a:r>
          </a:p>
          <a:p>
            <a:pPr>
              <a:spcAft>
                <a:spcPts val="600"/>
              </a:spcAft>
              <a:defRPr sz="1100">
                <a:solidFill>
                  <a:srgbClr val="475569"/>
                </a:solidFill>
              </a:defRPr>
            </a:pPr>
            <a:r>
              <a:t>Multi-objective constrained optimizer discovering healthier, verified alternatives.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320040"/>
          </a:xfrm>
          <a:prstGeom prst="rect">
            <a:avLst/>
          </a:prstGeom>
          <a:noFill/>
        </p:spPr>
        <p:txBody>
          <a:bodyPr wrap="square">
            <a:spAutoFit/>
          </a:bodyPr>
          <a:lstStyle/>
          <a:p>
            <a:pPr>
              <a:defRPr sz="1000" b="1">
                <a:solidFill>
                  <a:srgbClr val="0D9488"/>
                </a:solidFill>
              </a:defRPr>
            </a:pPr>
            <a:r>
              <a:t>AGENTS 1, 2 &amp; 3</a:t>
            </a:r>
          </a:p>
        </p:txBody>
      </p:sp>
      <p:sp>
        <p:nvSpPr>
          <p:cNvPr id="4" name="TextBox 3"/>
          <p:cNvSpPr txBox="1"/>
          <p:nvPr/>
        </p:nvSpPr>
        <p:spPr>
          <a:xfrm>
            <a:off x="731520" y="640080"/>
            <a:ext cx="10515600" cy="640080"/>
          </a:xfrm>
          <a:prstGeom prst="rect">
            <a:avLst/>
          </a:prstGeom>
          <a:noFill/>
        </p:spPr>
        <p:txBody>
          <a:bodyPr wrap="square">
            <a:spAutoFit/>
          </a:bodyPr>
          <a:lstStyle/>
          <a:p>
            <a:pPr>
              <a:defRPr sz="2400" b="1">
                <a:solidFill>
                  <a:srgbClr val="1E293B"/>
                </a:solidFill>
              </a:defRPr>
            </a:pPr>
            <a:r>
              <a:t>Data Ingestion &amp; Multi-Source Evidence Fusion</a:t>
            </a:r>
          </a:p>
        </p:txBody>
      </p:sp>
      <p:sp>
        <p:nvSpPr>
          <p:cNvPr id="5" name="Rounded Rectangle 4"/>
          <p:cNvSpPr/>
          <p:nvPr/>
        </p:nvSpPr>
        <p:spPr>
          <a:xfrm>
            <a:off x="731520" y="1463040"/>
            <a:ext cx="512064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00" b="1">
                <a:solidFill>
                  <a:srgbClr val="0D9488"/>
                </a:solidFill>
              </a:defRPr>
            </a:pPr>
            <a:r>
              <a:t>CLAIM EXTRACTION MODEL (NLP)</a:t>
            </a:r>
          </a:p>
          <a:p>
            <a:pPr>
              <a:spcAft>
                <a:spcPts val="1000"/>
              </a:spcAft>
              <a:defRPr sz="1600" b="1">
                <a:solidFill>
                  <a:srgbClr val="1E293B"/>
                </a:solidFill>
              </a:defRPr>
            </a:pPr>
            <a:r>
              <a:t>Taxonomy-Driven Semantic Extractor</a:t>
            </a:r>
          </a:p>
          <a:p>
            <a:pPr>
              <a:spcAft>
                <a:spcPts val="400"/>
              </a:spcAft>
              <a:defRPr sz="1200">
                <a:solidFill>
                  <a:srgbClr val="334155"/>
                </a:solidFill>
              </a:defRPr>
            </a:pPr>
            <a:r>
              <a:t>Identifies marketing buzzwords using regularized semantic patterns.</a:t>
            </a:r>
          </a:p>
          <a:p>
            <a:pPr>
              <a:spcAft>
                <a:spcPts val="400"/>
              </a:spcAft>
              <a:defRPr sz="1200">
                <a:solidFill>
                  <a:srgbClr val="334155"/>
                </a:solidFill>
              </a:defRPr>
            </a:pPr>
            <a:r>
              <a:t>Maps expressions to canonical claim representations:</a:t>
            </a:r>
          </a:p>
          <a:p>
            <a:pPr>
              <a:spcAft>
                <a:spcPts val="400"/>
              </a:spcAft>
              <a:defRPr sz="1200">
                <a:solidFill>
                  <a:srgbClr val="334155"/>
                </a:solidFill>
              </a:defRPr>
            </a:pPr>
            <a:r>
              <a:t>  • 'No Added Sugar', 'Sugar-Free' ➔ sugar_free</a:t>
            </a:r>
          </a:p>
          <a:p>
            <a:pPr>
              <a:spcAft>
                <a:spcPts val="400"/>
              </a:spcAft>
              <a:defRPr sz="1200">
                <a:solidFill>
                  <a:srgbClr val="334155"/>
                </a:solidFill>
              </a:defRPr>
            </a:pPr>
            <a:r>
              <a:t>  • 'Rich in Protein', '10g Protein' ➔ high_protein</a:t>
            </a:r>
          </a:p>
          <a:p>
            <a:pPr>
              <a:spcAft>
                <a:spcPts val="400"/>
              </a:spcAft>
              <a:defRPr sz="1200">
                <a:solidFill>
                  <a:srgbClr val="334155"/>
                </a:solidFill>
              </a:defRPr>
            </a:pPr>
            <a:r>
              <a:t>  • 'Zero Preservatives', 'No Chemical Additives' ➔ zero_additives</a:t>
            </a:r>
          </a:p>
          <a:p>
            <a:pPr>
              <a:spcAft>
                <a:spcPts val="400"/>
              </a:spcAft>
              <a:defRPr sz="1200">
                <a:solidFill>
                  <a:srgbClr val="334155"/>
                </a:solidFill>
              </a:defRPr>
            </a:pPr>
            <a:r>
              <a:t>  • 'Low Fat', 'Trans-Fat Free' ➔ low_fat / trans_fat_free</a:t>
            </a:r>
          </a:p>
          <a:p>
            <a:pPr>
              <a:spcAft>
                <a:spcPts val="400"/>
              </a:spcAft>
              <a:defRPr sz="1200">
                <a:solidFill>
                  <a:srgbClr val="334155"/>
                </a:solidFill>
              </a:defRPr>
            </a:pPr>
            <a:r>
              <a:t>Parses quantitative numerical claims (e.g. 'Contains 15g Protein').</a:t>
            </a:r>
          </a:p>
        </p:txBody>
      </p:sp>
      <p:sp>
        <p:nvSpPr>
          <p:cNvPr id="6" name="Rounded Rectangle 5"/>
          <p:cNvSpPr/>
          <p:nvPr/>
        </p:nvSpPr>
        <p:spPr>
          <a:xfrm>
            <a:off x="6217920" y="1463040"/>
            <a:ext cx="52120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00" b="1">
                <a:solidFill>
                  <a:srgbClr val="0D9488"/>
                </a:solidFill>
              </a:defRPr>
            </a:pPr>
            <a:r>
              <a:t>MULTI-SOURCE CREDIBILITY MODEL</a:t>
            </a:r>
          </a:p>
          <a:p>
            <a:pPr>
              <a:spcAft>
                <a:spcPts val="1000"/>
              </a:spcAft>
              <a:defRPr sz="1600" b="1">
                <a:solidFill>
                  <a:srgbClr val="1E293B"/>
                </a:solidFill>
              </a:defRPr>
            </a:pPr>
            <a:r>
              <a:t>Confidence-Weighted Information Fusion</a:t>
            </a:r>
          </a:p>
          <a:p>
            <a:pPr>
              <a:defRPr sz="1250" b="1">
                <a:solidFill>
                  <a:srgbClr val="1E293B"/>
                </a:solidFill>
              </a:defRPr>
            </a:pPr>
            <a:r>
              <a:t>• FSSAI Curated Database [W = 0.98]</a:t>
            </a:r>
          </a:p>
          <a:p>
            <a:pPr>
              <a:spcAft>
                <a:spcPts val="600"/>
              </a:spcAft>
              <a:defRPr sz="1100">
                <a:solidFill>
                  <a:srgbClr val="64748B"/>
                </a:solidFill>
              </a:defRPr>
            </a:pPr>
            <a:r>
              <a:t>Statutory Indian food safety authority benchmarks &amp; verified compliance records.</a:t>
            </a:r>
          </a:p>
          <a:p>
            <a:pPr>
              <a:defRPr sz="1250" b="1">
                <a:solidFill>
                  <a:srgbClr val="1E293B"/>
                </a:solidFill>
              </a:defRPr>
            </a:pPr>
            <a:r>
              <a:t>• USDA FoodData Central (FDC) [W = 0.95]</a:t>
            </a:r>
          </a:p>
          <a:p>
            <a:pPr>
              <a:spcAft>
                <a:spcPts val="600"/>
              </a:spcAft>
              <a:defRPr sz="1100">
                <a:solidFill>
                  <a:srgbClr val="64748B"/>
                </a:solidFill>
              </a:defRPr>
            </a:pPr>
            <a:r>
              <a:t>Official chemical laboratory spectrometry testing from USDA Agricultural Research Service.</a:t>
            </a:r>
          </a:p>
          <a:p>
            <a:pPr>
              <a:defRPr sz="1250" b="1">
                <a:solidFill>
                  <a:srgbClr val="1E293B"/>
                </a:solidFill>
              </a:defRPr>
            </a:pPr>
            <a:r>
              <a:t>• Open Food Facts (OFF) [W = 0.85]</a:t>
            </a:r>
          </a:p>
          <a:p>
            <a:pPr>
              <a:spcAft>
                <a:spcPts val="600"/>
              </a:spcAft>
              <a:defRPr sz="1100">
                <a:solidFill>
                  <a:srgbClr val="64748B"/>
                </a:solidFill>
              </a:defRPr>
            </a:pPr>
            <a:r>
              <a:t>Global crowdsourced product packaging repository with barcode lookup.</a:t>
            </a:r>
          </a:p>
          <a:p>
            <a:pPr>
              <a:defRPr sz="1250" b="1">
                <a:solidFill>
                  <a:srgbClr val="1E293B"/>
                </a:solidFill>
              </a:defRPr>
            </a:pPr>
            <a:r>
              <a:t>• Conflict Resolution [Highest-Weight Fusion]</a:t>
            </a:r>
          </a:p>
          <a:p>
            <a:pPr>
              <a:spcAft>
                <a:spcPts val="600"/>
              </a:spcAft>
              <a:defRPr sz="1100">
                <a:solidFill>
                  <a:srgbClr val="64748B"/>
                </a:solidFill>
              </a:defRPr>
            </a:pPr>
            <a:r>
              <a:t>When contradictory values exist (e.g. differing sugar content), the system blends evidence prioritized by source credibility.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320040"/>
          </a:xfrm>
          <a:prstGeom prst="rect">
            <a:avLst/>
          </a:prstGeom>
          <a:noFill/>
        </p:spPr>
        <p:txBody>
          <a:bodyPr wrap="square">
            <a:spAutoFit/>
          </a:bodyPr>
          <a:lstStyle/>
          <a:p>
            <a:pPr>
              <a:defRPr sz="1000" b="1">
                <a:solidFill>
                  <a:srgbClr val="0D9488"/>
                </a:solidFill>
              </a:defRPr>
            </a:pPr>
            <a:r>
              <a:t>AGENT 4 - REGULATORY COMPLIANCE</a:t>
            </a:r>
          </a:p>
        </p:txBody>
      </p:sp>
      <p:sp>
        <p:nvSpPr>
          <p:cNvPr id="4" name="TextBox 3"/>
          <p:cNvSpPr txBox="1"/>
          <p:nvPr/>
        </p:nvSpPr>
        <p:spPr>
          <a:xfrm>
            <a:off x="731520" y="640080"/>
            <a:ext cx="10515600" cy="640080"/>
          </a:xfrm>
          <a:prstGeom prst="rect">
            <a:avLst/>
          </a:prstGeom>
          <a:noFill/>
        </p:spPr>
        <p:txBody>
          <a:bodyPr wrap="square">
            <a:spAutoFit/>
          </a:bodyPr>
          <a:lstStyle/>
          <a:p>
            <a:pPr>
              <a:defRPr sz="2400" b="1">
                <a:solidFill>
                  <a:srgbClr val="1E293B"/>
                </a:solidFill>
              </a:defRPr>
            </a:pPr>
            <a:r>
              <a:t>Reality Check: Symbolic Regulatory Reasoning Engine</a:t>
            </a:r>
          </a:p>
        </p:txBody>
      </p:sp>
      <p:sp>
        <p:nvSpPr>
          <p:cNvPr id="5" name="Rounded Rectangle 4"/>
          <p:cNvSpPr/>
          <p:nvPr/>
        </p:nvSpPr>
        <p:spPr>
          <a:xfrm>
            <a:off x="731520" y="1463040"/>
            <a:ext cx="106984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100" b="1">
                <a:solidFill>
                  <a:srgbClr val="0D9488"/>
                </a:solidFill>
              </a:defRPr>
            </a:pPr>
            <a:r>
              <a:t>STATUTORY REGULATORY THRESHOLDS (FSSAI 2018 &amp; FDA 21 CFR § 101)</a:t>
            </a:r>
          </a:p>
          <a:p>
            <a:pPr>
              <a:defRPr sz="1200" b="1">
                <a:solidFill>
                  <a:srgbClr val="1E293B"/>
                </a:solidFill>
              </a:defRPr>
            </a:pPr>
            <a:r>
              <a:t>Claim: 'Sugar Free' ➔ Cutoff: Total Sugar &lt;= 0.5g / 100g (or 100ml)</a:t>
            </a:r>
          </a:p>
          <a:p>
            <a:pPr>
              <a:spcAft>
                <a:spcPts val="600"/>
              </a:spcAft>
              <a:defRPr sz="1050">
                <a:solidFill>
                  <a:srgbClr val="64748B"/>
                </a:solidFill>
              </a:defRPr>
            </a:pPr>
            <a:r>
              <a:t>   Statute: FSSAI Claims Regs 2018, Sched. I; US 21 CFR 101.60  |  Verdict Output: SUPPORTED / CONTRADICTED</a:t>
            </a:r>
          </a:p>
          <a:p>
            <a:pPr>
              <a:defRPr sz="1200" b="1">
                <a:solidFill>
                  <a:srgbClr val="1E293B"/>
                </a:solidFill>
              </a:defRPr>
            </a:pPr>
            <a:r>
              <a:t>Claim: 'Low Sugar' ➔ Cutoff: Total Sugar &lt;= 5.0g / 100g (solids) or 2.5g / 100ml</a:t>
            </a:r>
          </a:p>
          <a:p>
            <a:pPr>
              <a:spcAft>
                <a:spcPts val="600"/>
              </a:spcAft>
              <a:defRPr sz="1050">
                <a:solidFill>
                  <a:srgbClr val="64748B"/>
                </a:solidFill>
              </a:defRPr>
            </a:pPr>
            <a:r>
              <a:t>   Statute: FSSAI Labelling Regs 2020; Codex Alimentarius  |  Verdict Output: SUPPORTED / CONTRADICTED</a:t>
            </a:r>
          </a:p>
          <a:p>
            <a:pPr>
              <a:defRPr sz="1200" b="1">
                <a:solidFill>
                  <a:srgbClr val="1E293B"/>
                </a:solidFill>
              </a:defRPr>
            </a:pPr>
            <a:r>
              <a:t>Claim: 'High Protein' ➔ Cutoff: Protein &gt;= 20% of total energy or &gt;= 12g / 100g</a:t>
            </a:r>
          </a:p>
          <a:p>
            <a:pPr>
              <a:spcAft>
                <a:spcPts val="600"/>
              </a:spcAft>
              <a:defRPr sz="1050">
                <a:solidFill>
                  <a:srgbClr val="64748B"/>
                </a:solidFill>
              </a:defRPr>
            </a:pPr>
            <a:r>
              <a:t>   Statute: FSSAI Claims Regs 2018; EU Reg 1924/2006  |  Verdict Output: SUPPORTED / CONTRADICTED</a:t>
            </a:r>
          </a:p>
          <a:p>
            <a:pPr>
              <a:defRPr sz="1200" b="1">
                <a:solidFill>
                  <a:srgbClr val="1E293B"/>
                </a:solidFill>
              </a:defRPr>
            </a:pPr>
            <a:r>
              <a:t>Claim: 'Zero Additives' ➔ Cutoff: Additive Count == 0 (INS / E-number check)</a:t>
            </a:r>
          </a:p>
          <a:p>
            <a:pPr>
              <a:spcAft>
                <a:spcPts val="600"/>
              </a:spcAft>
              <a:defRPr sz="1050">
                <a:solidFill>
                  <a:srgbClr val="64748B"/>
                </a:solidFill>
              </a:defRPr>
            </a:pPr>
            <a:r>
              <a:t>   Statute: FSSAI Food Product Standards &amp; Additives Regs  |  Verdict Output: SUPPORTED / CONTRADICTED</a:t>
            </a:r>
          </a:p>
          <a:p>
            <a:pPr>
              <a:defRPr sz="1200" b="1">
                <a:solidFill>
                  <a:srgbClr val="1E293B"/>
                </a:solidFill>
              </a:defRPr>
            </a:pPr>
            <a:r>
              <a:t>Claim: 'Low Fat' ➔ Cutoff: Total Fat &lt;= 3.0g / 100g (solids) or 1.5g / 100ml</a:t>
            </a:r>
          </a:p>
          <a:p>
            <a:pPr>
              <a:spcAft>
                <a:spcPts val="600"/>
              </a:spcAft>
              <a:defRPr sz="1050">
                <a:solidFill>
                  <a:srgbClr val="64748B"/>
                </a:solidFill>
              </a:defRPr>
            </a:pPr>
            <a:r>
              <a:t>   Statute: FSSAI Claims Regs 2018, Sched. I; US 21 CFR 101.62  |  Verdict Output: SUPPORTED / CONTRADICTED</a:t>
            </a:r>
          </a:p>
          <a:p>
            <a:pPr>
              <a:defRPr sz="1200" b="1">
                <a:solidFill>
                  <a:srgbClr val="1E293B"/>
                </a:solidFill>
              </a:defRPr>
            </a:pPr>
            <a:r>
              <a:t>Claim: 'Trans Fat Free' ➔ Cutoff: Trans Fat &lt; 0.2g / 100g</a:t>
            </a:r>
          </a:p>
          <a:p>
            <a:pPr>
              <a:spcAft>
                <a:spcPts val="600"/>
              </a:spcAft>
              <a:defRPr sz="1050">
                <a:solidFill>
                  <a:srgbClr val="64748B"/>
                </a:solidFill>
              </a:defRPr>
            </a:pPr>
            <a:r>
              <a:t>   Statute: FSSAI Limit of Trans Fatty Acids Amendment 2021  |  Verdict Output: SUPPORTED / CONTRADICTED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320040"/>
          </a:xfrm>
          <a:prstGeom prst="rect">
            <a:avLst/>
          </a:prstGeom>
          <a:noFill/>
        </p:spPr>
        <p:txBody>
          <a:bodyPr wrap="square">
            <a:spAutoFit/>
          </a:bodyPr>
          <a:lstStyle/>
          <a:p>
            <a:pPr>
              <a:defRPr sz="1000" b="1">
                <a:solidFill>
                  <a:srgbClr val="0D9488"/>
                </a:solidFill>
              </a:defRPr>
            </a:pPr>
            <a:r>
              <a:t>VERDICT SYNTHESIS MODEL</a:t>
            </a:r>
          </a:p>
        </p:txBody>
      </p:sp>
      <p:sp>
        <p:nvSpPr>
          <p:cNvPr id="4" name="TextBox 3"/>
          <p:cNvSpPr txBox="1"/>
          <p:nvPr/>
        </p:nvSpPr>
        <p:spPr>
          <a:xfrm>
            <a:off x="731520" y="640080"/>
            <a:ext cx="10515600" cy="640080"/>
          </a:xfrm>
          <a:prstGeom prst="rect">
            <a:avLst/>
          </a:prstGeom>
          <a:noFill/>
        </p:spPr>
        <p:txBody>
          <a:bodyPr wrap="square">
            <a:spAutoFit/>
          </a:bodyPr>
          <a:lstStyle/>
          <a:p>
            <a:pPr>
              <a:defRPr sz="2400" b="1">
                <a:solidFill>
                  <a:srgbClr val="1E293B"/>
                </a:solidFill>
              </a:defRPr>
            </a:pPr>
            <a:r>
              <a:t>Mathematical Formulation: Marketing Accuracy Score (MAS)</a:t>
            </a:r>
          </a:p>
        </p:txBody>
      </p:sp>
      <p:sp>
        <p:nvSpPr>
          <p:cNvPr id="5" name="Rounded Rectangle 4"/>
          <p:cNvSpPr/>
          <p:nvPr/>
        </p:nvSpPr>
        <p:spPr>
          <a:xfrm>
            <a:off x="731520" y="1463040"/>
            <a:ext cx="106984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100" b="1">
                <a:solidFill>
                  <a:srgbClr val="0D9488"/>
                </a:solidFill>
              </a:defRPr>
            </a:pPr>
            <a:r>
              <a:t>CREDIBILITY-WEIGHTED ACCURACY FORMULATION</a:t>
            </a:r>
          </a:p>
          <a:p>
            <a:pPr>
              <a:spcAft>
                <a:spcPts val="1400"/>
              </a:spcAft>
              <a:defRPr sz="2200" b="1">
                <a:solidFill>
                  <a:srgbClr val="0D9488"/>
                </a:solidFill>
              </a:defRPr>
            </a:pPr>
            <a:r>
              <a:t>MAS = round( ( Σ [ P_i × W_i ] / Σ [ W_i ] ) × 100 )</a:t>
            </a:r>
          </a:p>
          <a:p>
            <a:pPr>
              <a:spcAft>
                <a:spcPts val="600"/>
              </a:spcAft>
              <a:defRPr sz="1300" b="1">
                <a:solidFill>
                  <a:srgbClr val="1E293B"/>
                </a:solidFill>
              </a:defRPr>
            </a:pPr>
            <a:r>
              <a:t>Where for each claim i (from 1 to N):</a:t>
            </a:r>
          </a:p>
          <a:p>
            <a:pPr>
              <a:spcAft>
                <a:spcPts val="800"/>
              </a:spcAft>
              <a:defRPr sz="1200">
                <a:solidFill>
                  <a:srgbClr val="334155"/>
                </a:solidFill>
              </a:defRPr>
            </a:pPr>
            <a:r>
              <a:t>• P_i = 1.0 (SUPPORTED): The claimed property strictly satisfies statutory threshold with verified laboratory data.</a:t>
            </a:r>
          </a:p>
          <a:p>
            <a:pPr>
              <a:spcAft>
                <a:spcPts val="800"/>
              </a:spcAft>
              <a:defRPr sz="1200">
                <a:solidFill>
                  <a:srgbClr val="334155"/>
                </a:solidFill>
              </a:defRPr>
            </a:pPr>
            <a:r>
              <a:t>• P_i = 0.5 (UNSUPPORTED): The label lacks necessary granular data to definitively confirm or contradict (neutral stance).</a:t>
            </a:r>
          </a:p>
          <a:p>
            <a:pPr>
              <a:spcAft>
                <a:spcPts val="800"/>
              </a:spcAft>
              <a:defRPr sz="1200">
                <a:solidFill>
                  <a:srgbClr val="334155"/>
                </a:solidFill>
              </a:defRPr>
            </a:pPr>
            <a:r>
              <a:t>• P_i = 0.0 (CONTRADICTED): The product violates statutory threshold or directly contradicts laboratory analysis (marketing deception).</a:t>
            </a:r>
          </a:p>
          <a:p>
            <a:pPr>
              <a:spcAft>
                <a:spcPts val="800"/>
              </a:spcAft>
              <a:defRPr sz="1200">
                <a:solidFill>
                  <a:srgbClr val="334155"/>
                </a:solidFill>
              </a:defRPr>
            </a:pPr>
            <a:r>
              <a:t>• W_i (Credibility Weight): Source confidence metric (0.98 for FSSAI Lab data, 0.95 for USDA, 0.85 for crowdsourced OFF).</a:t>
            </a:r>
          </a:p>
          <a:p>
            <a:pPr>
              <a:defRPr sz="1200" b="1">
                <a:solidFill>
                  <a:srgbClr val="1E293B"/>
                </a:solidFill>
              </a:defRPr>
            </a:pPr>
            <a:r>
              <a:t>Benchmark Tiers:  85–100: Highly Truthful  |  60–84: Partially Misleading  |  &lt; 60: Severe Health-Washing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320040"/>
          </a:xfrm>
          <a:prstGeom prst="rect">
            <a:avLst/>
          </a:prstGeom>
          <a:noFill/>
        </p:spPr>
        <p:txBody>
          <a:bodyPr wrap="square">
            <a:spAutoFit/>
          </a:bodyPr>
          <a:lstStyle/>
          <a:p>
            <a:pPr>
              <a:defRPr sz="1000" b="1">
                <a:solidFill>
                  <a:srgbClr val="0D9488"/>
                </a:solidFill>
              </a:defRPr>
            </a:pPr>
            <a:r>
              <a:t>AGENT 5 - HEALTH SCORING</a:t>
            </a:r>
          </a:p>
        </p:txBody>
      </p:sp>
      <p:sp>
        <p:nvSpPr>
          <p:cNvPr id="4" name="TextBox 3"/>
          <p:cNvSpPr txBox="1"/>
          <p:nvPr/>
        </p:nvSpPr>
        <p:spPr>
          <a:xfrm>
            <a:off x="731520" y="640080"/>
            <a:ext cx="10515600" cy="640080"/>
          </a:xfrm>
          <a:prstGeom prst="rect">
            <a:avLst/>
          </a:prstGeom>
          <a:noFill/>
        </p:spPr>
        <p:txBody>
          <a:bodyPr wrap="square">
            <a:spAutoFit/>
          </a:bodyPr>
          <a:lstStyle/>
          <a:p>
            <a:pPr>
              <a:defRPr sz="2400" b="1">
                <a:solidFill>
                  <a:srgbClr val="1E293B"/>
                </a:solidFill>
              </a:defRPr>
            </a:pPr>
            <a:r>
              <a:t>Nutri-Score Engine &amp; Category-Aware Imputation</a:t>
            </a:r>
          </a:p>
        </p:txBody>
      </p:sp>
      <p:sp>
        <p:nvSpPr>
          <p:cNvPr id="5" name="Rounded Rectangle 4"/>
          <p:cNvSpPr/>
          <p:nvPr/>
        </p:nvSpPr>
        <p:spPr>
          <a:xfrm>
            <a:off x="731520" y="1463040"/>
            <a:ext cx="512064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00" b="1">
                <a:solidFill>
                  <a:srgbClr val="0D9488"/>
                </a:solidFill>
              </a:defRPr>
            </a:pPr>
            <a:r>
              <a:t>FSANZ / SANTÉ PUBLIQUE FRANCE MODEL</a:t>
            </a:r>
          </a:p>
          <a:p>
            <a:pPr>
              <a:spcAft>
                <a:spcPts val="1000"/>
              </a:spcAft>
              <a:defRPr sz="1600" b="1">
                <a:solidFill>
                  <a:srgbClr val="1E293B"/>
                </a:solidFill>
              </a:defRPr>
            </a:pPr>
            <a:r>
              <a:t>Discrete Factor Algorithm (N - P)</a:t>
            </a:r>
          </a:p>
          <a:p>
            <a:pPr>
              <a:spcAft>
                <a:spcPts val="300"/>
              </a:spcAft>
              <a:defRPr sz="1200">
                <a:solidFill>
                  <a:srgbClr val="334155"/>
                </a:solidFill>
              </a:defRPr>
            </a:pPr>
            <a:r>
              <a:t>Unfavorable Points (N: 0 to 40):</a:t>
            </a:r>
          </a:p>
          <a:p>
            <a:pPr>
              <a:spcAft>
                <a:spcPts val="300"/>
              </a:spcAft>
              <a:defRPr sz="1200">
                <a:solidFill>
                  <a:srgbClr val="334155"/>
                </a:solidFill>
              </a:defRPr>
            </a:pPr>
            <a:r>
              <a:t>  • Energy Density (kJ / 100g)</a:t>
            </a:r>
          </a:p>
          <a:p>
            <a:pPr>
              <a:spcAft>
                <a:spcPts val="300"/>
              </a:spcAft>
              <a:defRPr sz="1200">
                <a:solidFill>
                  <a:srgbClr val="334155"/>
                </a:solidFill>
              </a:defRPr>
            </a:pPr>
            <a:r>
              <a:t>  • Sugars (g / 100g)</a:t>
            </a:r>
          </a:p>
          <a:p>
            <a:pPr>
              <a:spcAft>
                <a:spcPts val="300"/>
              </a:spcAft>
              <a:defRPr sz="1200">
                <a:solidFill>
                  <a:srgbClr val="334155"/>
                </a:solidFill>
              </a:defRPr>
            </a:pPr>
            <a:r>
              <a:t>  • Saturated Fatty Acids (g / 100g)</a:t>
            </a:r>
          </a:p>
          <a:p>
            <a:pPr>
              <a:spcAft>
                <a:spcPts val="300"/>
              </a:spcAft>
              <a:defRPr sz="1200">
                <a:solidFill>
                  <a:srgbClr val="334155"/>
                </a:solidFill>
              </a:defRPr>
            </a:pPr>
            <a:r>
              <a:t>  • Sodium (mg / 100g)</a:t>
            </a:r>
          </a:p>
          <a:p>
            <a:pPr>
              <a:spcAft>
                <a:spcPts val="300"/>
              </a:spcAft>
              <a:defRPr sz="1200">
                <a:solidFill>
                  <a:srgbClr val="334155"/>
                </a:solidFill>
              </a:defRPr>
            </a:pPr>
            <a:r>
              <a:t>Favorable Points (P: 0 to 15):</a:t>
            </a:r>
          </a:p>
          <a:p>
            <a:pPr>
              <a:spcAft>
                <a:spcPts val="300"/>
              </a:spcAft>
              <a:defRPr sz="1200">
                <a:solidFill>
                  <a:srgbClr val="334155"/>
                </a:solidFill>
              </a:defRPr>
            </a:pPr>
            <a:r>
              <a:t>  • Fiber (g / 100g)</a:t>
            </a:r>
          </a:p>
          <a:p>
            <a:pPr>
              <a:spcAft>
                <a:spcPts val="300"/>
              </a:spcAft>
              <a:defRPr sz="1200">
                <a:solidFill>
                  <a:srgbClr val="334155"/>
                </a:solidFill>
              </a:defRPr>
            </a:pPr>
            <a:r>
              <a:t>  • Protein (g / 100g)</a:t>
            </a:r>
          </a:p>
          <a:p>
            <a:pPr>
              <a:spcAft>
                <a:spcPts val="300"/>
              </a:spcAft>
              <a:defRPr sz="1200">
                <a:solidFill>
                  <a:srgbClr val="334155"/>
                </a:solidFill>
              </a:defRPr>
            </a:pPr>
            <a:r>
              <a:t>  • Fruit / Veg / Legume / Nut %</a:t>
            </a:r>
          </a:p>
          <a:p>
            <a:pPr>
              <a:spcAft>
                <a:spcPts val="300"/>
              </a:spcAft>
              <a:defRPr sz="1200">
                <a:solidFill>
                  <a:srgbClr val="334155"/>
                </a:solidFill>
              </a:defRPr>
            </a:pPr>
            <a:r>
              <a:t>Final Nutri-Score = N - P (Grade A to E)</a:t>
            </a:r>
          </a:p>
        </p:txBody>
      </p:sp>
      <p:sp>
        <p:nvSpPr>
          <p:cNvPr id="6" name="Rounded Rectangle 5"/>
          <p:cNvSpPr/>
          <p:nvPr/>
        </p:nvSpPr>
        <p:spPr>
          <a:xfrm>
            <a:off x="6217920" y="1463040"/>
            <a:ext cx="52120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00" b="1">
                <a:solidFill>
                  <a:srgbClr val="0D9488"/>
                </a:solidFill>
              </a:defRPr>
            </a:pPr>
            <a:r>
              <a:t>SOLVING REAL-WORLD MISSING DATA</a:t>
            </a:r>
          </a:p>
          <a:p>
            <a:pPr>
              <a:spcAft>
                <a:spcPts val="1000"/>
              </a:spcAft>
              <a:defRPr sz="1600" b="1">
                <a:solidFill>
                  <a:srgbClr val="1E293B"/>
                </a:solidFill>
              </a:defRPr>
            </a:pPr>
            <a:r>
              <a:t>Category-Aware Statistical Imputation</a:t>
            </a:r>
          </a:p>
          <a:p>
            <a:pPr>
              <a:spcAft>
                <a:spcPts val="500"/>
              </a:spcAft>
              <a:defRPr sz="1200">
                <a:solidFill>
                  <a:srgbClr val="334155"/>
                </a:solidFill>
              </a:defRPr>
            </a:pPr>
            <a:r>
              <a:t>The Industry Challenge: Packaged foods frequently omit sodium or saturated fats to dodge bad ratings.</a:t>
            </a:r>
          </a:p>
          <a:p>
            <a:pPr>
              <a:spcAft>
                <a:spcPts val="500"/>
              </a:spcAft>
              <a:defRPr sz="1200">
                <a:solidFill>
                  <a:srgbClr val="334155"/>
                </a:solidFill>
              </a:defRPr>
            </a:pPr>
            <a:r>
              <a:t>Traditional Systems: Fail with 'Score Unknown' or incorrectly assign 0 points.</a:t>
            </a:r>
          </a:p>
          <a:p>
            <a:pPr>
              <a:spcAft>
                <a:spcPts val="500"/>
              </a:spcAft>
              <a:defRPr sz="1200">
                <a:solidFill>
                  <a:srgbClr val="334155"/>
                </a:solidFill>
              </a:defRPr>
            </a:pPr>
            <a:r>
              <a:t>TruLabel Solution:</a:t>
            </a:r>
          </a:p>
          <a:p>
            <a:pPr>
              <a:spcAft>
                <a:spcPts val="500"/>
              </a:spcAft>
              <a:defRPr sz="1200">
                <a:solidFill>
                  <a:srgbClr val="334155"/>
                </a:solidFill>
              </a:defRPr>
            </a:pPr>
            <a:r>
              <a:t>  • Classifies food domain (Noodles, Biscuits, Dairy, Beverages).</a:t>
            </a:r>
          </a:p>
          <a:p>
            <a:pPr>
              <a:spcAft>
                <a:spcPts val="500"/>
              </a:spcAft>
              <a:defRPr sz="1200">
                <a:solidFill>
                  <a:srgbClr val="334155"/>
                </a:solidFill>
              </a:defRPr>
            </a:pPr>
            <a:r>
              <a:t>  • Imputes missing baseline variables based on Codex standard category averages.</a:t>
            </a:r>
          </a:p>
          <a:p>
            <a:pPr>
              <a:spcAft>
                <a:spcPts val="500"/>
              </a:spcAft>
              <a:defRPr sz="1200">
                <a:solidFill>
                  <a:srgbClr val="334155"/>
                </a:solidFill>
              </a:defRPr>
            </a:pPr>
            <a:r>
              <a:t>  • Accurately flags high-sodium foods like instant ramen (D/E grade) rather than letting them escape as healthy!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320040"/>
          </a:xfrm>
          <a:prstGeom prst="rect">
            <a:avLst/>
          </a:prstGeom>
          <a:noFill/>
        </p:spPr>
        <p:txBody>
          <a:bodyPr wrap="square">
            <a:spAutoFit/>
          </a:bodyPr>
          <a:lstStyle/>
          <a:p>
            <a:pPr>
              <a:defRPr sz="1000" b="1">
                <a:solidFill>
                  <a:srgbClr val="0D9488"/>
                </a:solidFill>
              </a:defRPr>
            </a:pPr>
            <a:r>
              <a:t>AGENT 6 - HEALTH OPTIMIZATION</a:t>
            </a:r>
          </a:p>
        </p:txBody>
      </p:sp>
      <p:sp>
        <p:nvSpPr>
          <p:cNvPr id="4" name="TextBox 3"/>
          <p:cNvSpPr txBox="1"/>
          <p:nvPr/>
        </p:nvSpPr>
        <p:spPr>
          <a:xfrm>
            <a:off x="731520" y="640080"/>
            <a:ext cx="10515600" cy="640080"/>
          </a:xfrm>
          <a:prstGeom prst="rect">
            <a:avLst/>
          </a:prstGeom>
          <a:noFill/>
        </p:spPr>
        <p:txBody>
          <a:bodyPr wrap="square">
            <a:spAutoFit/>
          </a:bodyPr>
          <a:lstStyle/>
          <a:p>
            <a:pPr>
              <a:defRPr sz="2400" b="1">
                <a:solidFill>
                  <a:srgbClr val="1E293B"/>
                </a:solidFill>
              </a:defRPr>
            </a:pPr>
            <a:r>
              <a:t>Dynamic Multi-Objective Recommendation Engine</a:t>
            </a:r>
          </a:p>
        </p:txBody>
      </p:sp>
      <p:sp>
        <p:nvSpPr>
          <p:cNvPr id="5" name="Rounded Rectangle 4"/>
          <p:cNvSpPr/>
          <p:nvPr/>
        </p:nvSpPr>
        <p:spPr>
          <a:xfrm>
            <a:off x="731520" y="1463040"/>
            <a:ext cx="106984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100" b="1">
                <a:solidFill>
                  <a:srgbClr val="0D9488"/>
                </a:solidFill>
              </a:defRPr>
            </a:pPr>
            <a:r>
              <a:t>2-STAGE CONSTRAINED OPTIMIZATION ARCHITECTURE</a:t>
            </a:r>
          </a:p>
          <a:p>
            <a:pPr>
              <a:defRPr sz="1250" b="1">
                <a:solidFill>
                  <a:srgbClr val="1E293B"/>
                </a:solidFill>
              </a:defRPr>
            </a:pPr>
            <a:r>
              <a:t>STAGE 1: HONESTY GATING FILTER [Disqualification Layer]</a:t>
            </a:r>
          </a:p>
          <a:p>
            <a:pPr>
              <a:spcAft>
                <a:spcPts val="500"/>
              </a:spcAft>
              <a:defRPr sz="1100">
                <a:solidFill>
                  <a:srgbClr val="475569"/>
                </a:solidFill>
              </a:defRPr>
            </a:pPr>
            <a:r>
              <a:t>   Any alternative candidate that contains a CONTRADICTED claim or falsified marketing is strictly eliminated. We never recommend a product that lies about its ingredients.</a:t>
            </a:r>
          </a:p>
          <a:p>
            <a:pPr>
              <a:defRPr sz="1250" b="1">
                <a:solidFill>
                  <a:srgbClr val="1E293B"/>
                </a:solidFill>
              </a:defRPr>
            </a:pPr>
            <a:r>
              <a:t>STAGE 2: DOMAIN-TAILORED FITNESS OPTIMIZATION [Multi-Objective Optimization]</a:t>
            </a:r>
          </a:p>
          <a:p>
            <a:pPr>
              <a:spcAft>
                <a:spcPts val="500"/>
              </a:spcAft>
              <a:defRPr sz="1100">
                <a:solidFill>
                  <a:srgbClr val="475569"/>
                </a:solidFill>
              </a:defRPr>
            </a:pPr>
            <a:r>
              <a:t>   A single metric cannot evaluate all foods. TruLabel dynamically adapts its objective function based on food category:</a:t>
            </a:r>
          </a:p>
          <a:p>
            <a:pPr>
              <a:defRPr sz="1250" b="1">
                <a:solidFill>
                  <a:srgbClr val="1E293B"/>
                </a:solidFill>
              </a:defRPr>
            </a:pPr>
            <a:r>
              <a:t>• Noodles &amp; Savory Snacks [Minimizes Sodium &amp; Additives]</a:t>
            </a:r>
          </a:p>
          <a:p>
            <a:pPr>
              <a:spcAft>
                <a:spcPts val="500"/>
              </a:spcAft>
              <a:defRPr sz="1100">
                <a:solidFill>
                  <a:srgbClr val="475569"/>
                </a:solidFill>
              </a:defRPr>
            </a:pPr>
            <a:r>
              <a:t>   Penalizes MSG / synthetic emulsifiers, requires higher whole-grain fiber.</a:t>
            </a:r>
          </a:p>
          <a:p>
            <a:pPr>
              <a:defRPr sz="1250" b="1">
                <a:solidFill>
                  <a:srgbClr val="1E293B"/>
                </a:solidFill>
              </a:defRPr>
            </a:pPr>
            <a:r>
              <a:t>• Protein &amp; Fitness Supplements [Maximizes Protein Density]</a:t>
            </a:r>
          </a:p>
          <a:p>
            <a:pPr>
              <a:spcAft>
                <a:spcPts val="500"/>
              </a:spcAft>
              <a:defRPr sz="1100">
                <a:solidFill>
                  <a:srgbClr val="475569"/>
                </a:solidFill>
              </a:defRPr>
            </a:pPr>
            <a:r>
              <a:t>   Optimizes Protein-to-Calorie ratio (Protein g / 100 kcal) and checks for amino spiking.</a:t>
            </a:r>
          </a:p>
          <a:p>
            <a:pPr>
              <a:defRPr sz="1250" b="1">
                <a:solidFill>
                  <a:srgbClr val="1E293B"/>
                </a:solidFill>
              </a:defRPr>
            </a:pPr>
            <a:r>
              <a:t>• Beverages &amp; Breakfast Cereals [Minimizes Free Sugars]</a:t>
            </a:r>
          </a:p>
          <a:p>
            <a:pPr>
              <a:spcAft>
                <a:spcPts val="500"/>
              </a:spcAft>
              <a:defRPr sz="1100">
                <a:solidFill>
                  <a:srgbClr val="475569"/>
                </a:solidFill>
              </a:defRPr>
            </a:pPr>
            <a:r>
              <a:t>   Strictly penalizes sucrose, glucose-fructose syrup, and maltodextrin.</a:t>
            </a:r>
          </a:p>
          <a:p>
            <a:pPr>
              <a:defRPr sz="1250" b="1">
                <a:solidFill>
                  <a:srgbClr val="1E293B"/>
                </a:solidFill>
              </a:defRPr>
            </a:pPr>
            <a:r>
              <a:t>• Cooking Oils &amp; Dairy [Optimizes Fatty Acid Profile]</a:t>
            </a:r>
          </a:p>
          <a:p>
            <a:pPr>
              <a:spcAft>
                <a:spcPts val="500"/>
              </a:spcAft>
              <a:defRPr sz="1100">
                <a:solidFill>
                  <a:srgbClr val="475569"/>
                </a:solidFill>
              </a:defRPr>
            </a:pPr>
            <a:r>
              <a:t>   Minimizes saturated/trans fatty acids while maximizing MUFA/PUFA balances.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320040"/>
          </a:xfrm>
          <a:prstGeom prst="rect">
            <a:avLst/>
          </a:prstGeom>
          <a:noFill/>
        </p:spPr>
        <p:txBody>
          <a:bodyPr wrap="square">
            <a:spAutoFit/>
          </a:bodyPr>
          <a:lstStyle/>
          <a:p>
            <a:pPr>
              <a:defRPr sz="1000" b="1">
                <a:solidFill>
                  <a:srgbClr val="0D9488"/>
                </a:solidFill>
              </a:defRPr>
            </a:pPr>
            <a:r>
              <a:t>SYSTEM IMPLEMENTATION</a:t>
            </a:r>
          </a:p>
        </p:txBody>
      </p:sp>
      <p:sp>
        <p:nvSpPr>
          <p:cNvPr id="4" name="TextBox 3"/>
          <p:cNvSpPr txBox="1"/>
          <p:nvPr/>
        </p:nvSpPr>
        <p:spPr>
          <a:xfrm>
            <a:off x="731520" y="640080"/>
            <a:ext cx="10515600" cy="640080"/>
          </a:xfrm>
          <a:prstGeom prst="rect">
            <a:avLst/>
          </a:prstGeom>
          <a:noFill/>
        </p:spPr>
        <p:txBody>
          <a:bodyPr wrap="square">
            <a:spAutoFit/>
          </a:bodyPr>
          <a:lstStyle/>
          <a:p>
            <a:pPr>
              <a:defRPr sz="2400" b="1">
                <a:solidFill>
                  <a:srgbClr val="1E293B"/>
                </a:solidFill>
              </a:defRPr>
            </a:pPr>
            <a:r>
              <a:t>Technology Stack &amp; Implementation Architecture</a:t>
            </a:r>
          </a:p>
        </p:txBody>
      </p:sp>
      <p:sp>
        <p:nvSpPr>
          <p:cNvPr id="5" name="Rounded Rectangle 4"/>
          <p:cNvSpPr/>
          <p:nvPr/>
        </p:nvSpPr>
        <p:spPr>
          <a:xfrm>
            <a:off x="731520" y="1463040"/>
            <a:ext cx="3328416"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000" b="1">
                <a:solidFill>
                  <a:srgbClr val="0D9488"/>
                </a:solidFill>
              </a:defRPr>
            </a:pPr>
            <a:r>
              <a:t>BACKEND &amp; AGENTS</a:t>
            </a:r>
          </a:p>
          <a:p>
            <a:pPr>
              <a:spcAft>
                <a:spcPts val="1200"/>
              </a:spcAft>
              <a:defRPr sz="1600" b="1">
                <a:solidFill>
                  <a:srgbClr val="1E293B"/>
                </a:solidFill>
              </a:defRPr>
            </a:pPr>
            <a:r>
              <a:t>Python &amp; FastAPI</a:t>
            </a:r>
          </a:p>
          <a:p>
            <a:pPr>
              <a:spcAft>
                <a:spcPts val="800"/>
              </a:spcAft>
              <a:defRPr sz="1200">
                <a:solidFill>
                  <a:srgbClr val="334155"/>
                </a:solidFill>
              </a:defRPr>
            </a:pPr>
            <a:r>
              <a:t>✔ FastAPI asynchronous REST API</a:t>
            </a:r>
          </a:p>
          <a:p>
            <a:pPr>
              <a:spcAft>
                <a:spcPts val="800"/>
              </a:spcAft>
              <a:defRPr sz="1200">
                <a:solidFill>
                  <a:srgbClr val="334155"/>
                </a:solidFill>
              </a:defRPr>
            </a:pPr>
            <a:r>
              <a:t>✔ Pydantic schema validation &amp; typing</a:t>
            </a:r>
          </a:p>
          <a:p>
            <a:pPr>
              <a:spcAft>
                <a:spcPts val="800"/>
              </a:spcAft>
              <a:defRPr sz="1200">
                <a:solidFill>
                  <a:srgbClr val="334155"/>
                </a:solidFill>
              </a:defRPr>
            </a:pPr>
            <a:r>
              <a:t>✔ Regex NLP &amp; Symbolic Knowledge Base</a:t>
            </a:r>
          </a:p>
          <a:p>
            <a:pPr>
              <a:spcAft>
                <a:spcPts val="800"/>
              </a:spcAft>
              <a:defRPr sz="1200">
                <a:solidFill>
                  <a:srgbClr val="334155"/>
                </a:solidFill>
              </a:defRPr>
            </a:pPr>
            <a:r>
              <a:t>✔ Asynchronous HTTP clients (httpx)</a:t>
            </a:r>
          </a:p>
          <a:p>
            <a:pPr>
              <a:spcAft>
                <a:spcPts val="800"/>
              </a:spcAft>
              <a:defRPr sz="1200">
                <a:solidFill>
                  <a:srgbClr val="334155"/>
                </a:solidFill>
              </a:defRPr>
            </a:pPr>
            <a:r>
              <a:t>✔ Full unit test suite (pytest, 59/59 passing)</a:t>
            </a:r>
          </a:p>
        </p:txBody>
      </p:sp>
      <p:sp>
        <p:nvSpPr>
          <p:cNvPr id="6" name="Rounded Rectangle 5"/>
          <p:cNvSpPr/>
          <p:nvPr/>
        </p:nvSpPr>
        <p:spPr>
          <a:xfrm>
            <a:off x="4425696" y="1463040"/>
            <a:ext cx="3328416"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000" b="1">
                <a:solidFill>
                  <a:srgbClr val="0D9488"/>
                </a:solidFill>
              </a:defRPr>
            </a:pPr>
            <a:r>
              <a:t>FRONTEND &amp; UI</a:t>
            </a:r>
          </a:p>
          <a:p>
            <a:pPr>
              <a:spcAft>
                <a:spcPts val="1200"/>
              </a:spcAft>
              <a:defRPr sz="1600" b="1">
                <a:solidFill>
                  <a:srgbClr val="1E293B"/>
                </a:solidFill>
              </a:defRPr>
            </a:pPr>
            <a:r>
              <a:t>React 19 &amp; Tailwind CSS</a:t>
            </a:r>
          </a:p>
          <a:p>
            <a:pPr>
              <a:spcAft>
                <a:spcPts val="800"/>
              </a:spcAft>
              <a:defRPr sz="1200">
                <a:solidFill>
                  <a:srgbClr val="334155"/>
                </a:solidFill>
              </a:defRPr>
            </a:pPr>
            <a:r>
              <a:t>✔ Vite-powered ultra-fast frontend</a:t>
            </a:r>
          </a:p>
          <a:p>
            <a:pPr>
              <a:spcAft>
                <a:spcPts val="800"/>
              </a:spcAft>
              <a:defRPr sz="1200">
                <a:solidFill>
                  <a:srgbClr val="334155"/>
                </a:solidFill>
              </a:defRPr>
            </a:pPr>
            <a:r>
              <a:t>✔ Lucide-React dynamic icons</a:t>
            </a:r>
          </a:p>
          <a:p>
            <a:pPr>
              <a:spcAft>
                <a:spcPts val="800"/>
              </a:spcAft>
              <a:defRPr sz="1200">
                <a:solidFill>
                  <a:srgbClr val="334155"/>
                </a:solidFill>
              </a:defRPr>
            </a:pPr>
            <a:r>
              <a:t>✔ Bilingual Theme Toggle (Dark &amp; Bright modes)</a:t>
            </a:r>
          </a:p>
          <a:p>
            <a:pPr>
              <a:spcAft>
                <a:spcPts val="800"/>
              </a:spcAft>
              <a:defRPr sz="1200">
                <a:solidFill>
                  <a:srgbClr val="334155"/>
                </a:solidFill>
              </a:defRPr>
            </a:pPr>
            <a:r>
              <a:t>✔ Interactive Nutri-Score Badges (A to E)</a:t>
            </a:r>
          </a:p>
          <a:p>
            <a:pPr>
              <a:spcAft>
                <a:spcPts val="800"/>
              </a:spcAft>
              <a:defRPr sz="1200">
                <a:solidFill>
                  <a:srgbClr val="334155"/>
                </a:solidFill>
              </a:defRPr>
            </a:pPr>
            <a:r>
              <a:t>✔ Direct eCommerce purchase links &amp; verified imagery</a:t>
            </a:r>
          </a:p>
        </p:txBody>
      </p:sp>
      <p:sp>
        <p:nvSpPr>
          <p:cNvPr id="7" name="Rounded Rectangle 6"/>
          <p:cNvSpPr/>
          <p:nvPr/>
        </p:nvSpPr>
        <p:spPr>
          <a:xfrm>
            <a:off x="8119872" y="1463040"/>
            <a:ext cx="3328416"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000" b="1">
                <a:solidFill>
                  <a:srgbClr val="0D9488"/>
                </a:solidFill>
              </a:defRPr>
            </a:pPr>
            <a:r>
              <a:t>DATA &amp; REGULATORY</a:t>
            </a:r>
          </a:p>
          <a:p>
            <a:pPr>
              <a:spcAft>
                <a:spcPts val="1200"/>
              </a:spcAft>
              <a:defRPr sz="1600" b="1">
                <a:solidFill>
                  <a:srgbClr val="1E293B"/>
                </a:solidFill>
              </a:defRPr>
            </a:pPr>
            <a:r>
              <a:t>Knowledge Graph &amp; APIs</a:t>
            </a:r>
          </a:p>
          <a:p>
            <a:pPr>
              <a:spcAft>
                <a:spcPts val="800"/>
              </a:spcAft>
              <a:defRPr sz="1200">
                <a:solidFill>
                  <a:srgbClr val="334155"/>
                </a:solidFill>
              </a:defRPr>
            </a:pPr>
            <a:r>
              <a:t>✔ Open Food Facts API v2 integration</a:t>
            </a:r>
          </a:p>
          <a:p>
            <a:pPr>
              <a:spcAft>
                <a:spcPts val="800"/>
              </a:spcAft>
              <a:defRPr sz="1200">
                <a:solidFill>
                  <a:srgbClr val="334155"/>
                </a:solidFill>
              </a:defRPr>
            </a:pPr>
            <a:r>
              <a:t>✔ USDA FoodData Central API connector</a:t>
            </a:r>
          </a:p>
          <a:p>
            <a:pPr>
              <a:spcAft>
                <a:spcPts val="800"/>
              </a:spcAft>
              <a:defRPr sz="1200">
                <a:solidFill>
                  <a:srgbClr val="334155"/>
                </a:solidFill>
              </a:defRPr>
            </a:pPr>
            <a:r>
              <a:t>✔ Curated Indian FSSAI statutory standards</a:t>
            </a:r>
          </a:p>
          <a:p>
            <a:pPr>
              <a:spcAft>
                <a:spcPts val="800"/>
              </a:spcAft>
              <a:defRPr sz="1200">
                <a:solidFill>
                  <a:srgbClr val="334155"/>
                </a:solidFill>
              </a:defRPr>
            </a:pPr>
            <a:r>
              <a:t>✔ Barcode scanner integration</a:t>
            </a:r>
          </a:p>
          <a:p>
            <a:pPr>
              <a:spcAft>
                <a:spcPts val="800"/>
              </a:spcAft>
              <a:defRPr sz="1200">
                <a:solidFill>
                  <a:srgbClr val="334155"/>
                </a:solidFill>
              </a:defRPr>
            </a:pPr>
            <a:r>
              <a:t>✔ Statutory legal citation repository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320040"/>
          </a:xfrm>
          <a:prstGeom prst="rect">
            <a:avLst/>
          </a:prstGeom>
          <a:noFill/>
        </p:spPr>
        <p:txBody>
          <a:bodyPr wrap="square">
            <a:spAutoFit/>
          </a:bodyPr>
          <a:lstStyle/>
          <a:p>
            <a:pPr>
              <a:defRPr sz="1000" b="1">
                <a:solidFill>
                  <a:srgbClr val="0D9488"/>
                </a:solidFill>
              </a:defRPr>
            </a:pPr>
            <a:r>
              <a:t>EXPERIMENTAL VALIDATION</a:t>
            </a:r>
          </a:p>
        </p:txBody>
      </p:sp>
      <p:sp>
        <p:nvSpPr>
          <p:cNvPr id="4" name="TextBox 3"/>
          <p:cNvSpPr txBox="1"/>
          <p:nvPr/>
        </p:nvSpPr>
        <p:spPr>
          <a:xfrm>
            <a:off x="731520" y="640080"/>
            <a:ext cx="10515600" cy="640080"/>
          </a:xfrm>
          <a:prstGeom prst="rect">
            <a:avLst/>
          </a:prstGeom>
          <a:noFill/>
        </p:spPr>
        <p:txBody>
          <a:bodyPr wrap="square">
            <a:spAutoFit/>
          </a:bodyPr>
          <a:lstStyle/>
          <a:p>
            <a:pPr>
              <a:defRPr sz="2400" b="1">
                <a:solidFill>
                  <a:srgbClr val="1E293B"/>
                </a:solidFill>
              </a:defRPr>
            </a:pPr>
            <a:r>
              <a:t>Real-World Case Study: Instant Noodles Audit</a:t>
            </a:r>
          </a:p>
        </p:txBody>
      </p:sp>
      <p:sp>
        <p:nvSpPr>
          <p:cNvPr id="5" name="Rounded Rectangle 4"/>
          <p:cNvSpPr/>
          <p:nvPr/>
        </p:nvSpPr>
        <p:spPr>
          <a:xfrm>
            <a:off x="731520" y="1463040"/>
            <a:ext cx="106984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00" b="1">
                <a:solidFill>
                  <a:srgbClr val="0D9488"/>
                </a:solidFill>
              </a:defRPr>
            </a:pPr>
            <a:r>
              <a:t>TEST CASE: POPULAR PACKAGED NOODLES AUDIT</a:t>
            </a:r>
          </a:p>
          <a:p>
            <a:pPr>
              <a:spcAft>
                <a:spcPts val="1200"/>
              </a:spcAft>
              <a:defRPr sz="1600" b="1">
                <a:solidFill>
                  <a:srgbClr val="1E293B"/>
                </a:solidFill>
              </a:defRPr>
            </a:pPr>
            <a:r>
              <a:t>Auditing 'Instant Chicken Noodles' Packaging Claims</a:t>
            </a:r>
          </a:p>
          <a:p>
            <a:pPr>
              <a:defRPr sz="1200" b="1">
                <a:solidFill>
                  <a:srgbClr val="1E293B"/>
                </a:solidFill>
              </a:defRPr>
            </a:pPr>
            <a:r>
              <a:t>• Input Claim on Front-of-Pack:</a:t>
            </a:r>
          </a:p>
          <a:p>
            <a:pPr>
              <a:spcAft>
                <a:spcPts val="400"/>
              </a:spcAft>
              <a:defRPr sz="1100">
                <a:solidFill>
                  <a:srgbClr val="475569"/>
                </a:solidFill>
              </a:defRPr>
            </a:pPr>
            <a:r>
              <a:t>   'Good Source of Protein &amp; No Added MSG'</a:t>
            </a:r>
          </a:p>
          <a:p>
            <a:pPr>
              <a:defRPr sz="1200" b="1">
                <a:solidFill>
                  <a:srgbClr val="1E293B"/>
                </a:solidFill>
              </a:defRPr>
            </a:pPr>
            <a:r>
              <a:t>• Laboratory Evidence (100g):</a:t>
            </a:r>
          </a:p>
          <a:p>
            <a:pPr>
              <a:spcAft>
                <a:spcPts val="400"/>
              </a:spcAft>
              <a:defRPr sz="1100">
                <a:solidFill>
                  <a:srgbClr val="475569"/>
                </a:solidFill>
              </a:defRPr>
            </a:pPr>
            <a:r>
              <a:t>   Energy: 440 kcal | Sugar: 1.1g | Sodium: 1,180mg | Additives: INS 621 (Monosodium Glutamate) found in tastemaker</a:t>
            </a:r>
          </a:p>
          <a:p>
            <a:pPr>
              <a:defRPr sz="1200" b="1">
                <a:solidFill>
                  <a:srgbClr val="1E293B"/>
                </a:solidFill>
              </a:defRPr>
            </a:pPr>
            <a:r>
              <a:t>• Reality Check Verdict:</a:t>
            </a:r>
          </a:p>
          <a:p>
            <a:pPr>
              <a:spcAft>
                <a:spcPts val="400"/>
              </a:spcAft>
              <a:defRPr sz="1100">
                <a:solidFill>
                  <a:srgbClr val="475569"/>
                </a:solidFill>
              </a:defRPr>
            </a:pPr>
            <a:r>
              <a:t>   CONTRADICTED: Detected Monosodium Glutamate (INS 621) in ingredient list directly violating the 'No Added MSG' marketing claim under FSSAI Section 2.2.</a:t>
            </a:r>
          </a:p>
          <a:p>
            <a:pPr>
              <a:defRPr sz="1200" b="1">
                <a:solidFill>
                  <a:srgbClr val="1E293B"/>
                </a:solidFill>
              </a:defRPr>
            </a:pPr>
            <a:r>
              <a:t>• Nutri-Score Engine Result:</a:t>
            </a:r>
          </a:p>
          <a:p>
            <a:pPr>
              <a:spcAft>
                <a:spcPts val="400"/>
              </a:spcAft>
              <a:defRPr sz="1100">
                <a:solidFill>
                  <a:srgbClr val="475569"/>
                </a:solidFill>
              </a:defRPr>
            </a:pPr>
            <a:r>
              <a:t>   Grade D/E (Score 14) due to extreme sodium density (1,180mg / 100g exceeds maximum daily recommended allowance per serving).</a:t>
            </a:r>
          </a:p>
          <a:p>
            <a:pPr>
              <a:defRPr sz="1200" b="1">
                <a:solidFill>
                  <a:srgbClr val="1E293B"/>
                </a:solidFill>
              </a:defRPr>
            </a:pPr>
            <a:r>
              <a:t>• Marketing Accuracy Score (MAS):</a:t>
            </a:r>
          </a:p>
          <a:p>
            <a:pPr>
              <a:spcAft>
                <a:spcPts val="400"/>
              </a:spcAft>
              <a:defRPr sz="1100">
                <a:solidFill>
                  <a:srgbClr val="475569"/>
                </a:solidFill>
              </a:defRPr>
            </a:pPr>
            <a:r>
              <a:t>   Score: 33 / 100 (Severe Health-Washing Alert triggered).</a:t>
            </a:r>
          </a:p>
          <a:p>
            <a:pPr>
              <a:defRPr sz="1200" b="1">
                <a:solidFill>
                  <a:srgbClr val="1E293B"/>
                </a:solidFill>
              </a:defRPr>
            </a:pPr>
            <a:r>
              <a:t>• Recommended Alternative:</a:t>
            </a:r>
          </a:p>
          <a:p>
            <a:pPr>
              <a:spcAft>
                <a:spcPts val="400"/>
              </a:spcAft>
              <a:defRPr sz="1100">
                <a:solidFill>
                  <a:srgbClr val="475569"/>
                </a:solidFill>
              </a:defRPr>
            </a:pPr>
            <a:r>
              <a:t>   Millet / Whole Wheat Noodles with 0 synthetic flavor enhancers, Grade B Nutri-Score, and verified Indian retail availability.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320040"/>
          </a:xfrm>
          <a:prstGeom prst="rect">
            <a:avLst/>
          </a:prstGeom>
          <a:noFill/>
        </p:spPr>
        <p:txBody>
          <a:bodyPr wrap="square">
            <a:spAutoFit/>
          </a:bodyPr>
          <a:lstStyle/>
          <a:p>
            <a:pPr>
              <a:defRPr sz="1000" b="1">
                <a:solidFill>
                  <a:srgbClr val="0D9488"/>
                </a:solidFill>
              </a:defRPr>
            </a:pPr>
            <a:r>
              <a:t>EXAMINER Q&amp;A PREPARATION</a:t>
            </a:r>
          </a:p>
        </p:txBody>
      </p:sp>
      <p:sp>
        <p:nvSpPr>
          <p:cNvPr id="4" name="TextBox 3"/>
          <p:cNvSpPr txBox="1"/>
          <p:nvPr/>
        </p:nvSpPr>
        <p:spPr>
          <a:xfrm>
            <a:off x="731520" y="640080"/>
            <a:ext cx="10515600" cy="640080"/>
          </a:xfrm>
          <a:prstGeom prst="rect">
            <a:avLst/>
          </a:prstGeom>
          <a:noFill/>
        </p:spPr>
        <p:txBody>
          <a:bodyPr wrap="square">
            <a:spAutoFit/>
          </a:bodyPr>
          <a:lstStyle/>
          <a:p>
            <a:pPr>
              <a:defRPr sz="2400" b="1">
                <a:solidFill>
                  <a:srgbClr val="1E293B"/>
                </a:solidFill>
              </a:defRPr>
            </a:pPr>
            <a:r>
              <a:t>Viva Defense: Anticipated Questions &amp; Answers</a:t>
            </a:r>
          </a:p>
        </p:txBody>
      </p:sp>
      <p:sp>
        <p:nvSpPr>
          <p:cNvPr id="5" name="Rounded Rectangle 4"/>
          <p:cNvSpPr/>
          <p:nvPr/>
        </p:nvSpPr>
        <p:spPr>
          <a:xfrm>
            <a:off x="731520" y="1463040"/>
            <a:ext cx="106984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00" b="1">
                <a:solidFill>
                  <a:srgbClr val="0D9488"/>
                </a:solidFill>
              </a:defRPr>
            </a:pPr>
            <a:r>
              <a:t>CORE METHODOLOGY DEFENSE</a:t>
            </a:r>
          </a:p>
          <a:p>
            <a:pPr>
              <a:defRPr sz="1200" b="1">
                <a:solidFill>
                  <a:srgbClr val="0D9488"/>
                </a:solidFill>
              </a:defRPr>
            </a:pPr>
            <a:r>
              <a:t>Q1: 'What is the main machine learning novelty here?'</a:t>
            </a:r>
          </a:p>
          <a:p>
            <a:pPr>
              <a:spcAft>
                <a:spcPts val="600"/>
              </a:spcAft>
              <a:defRPr sz="1100">
                <a:solidFill>
                  <a:srgbClr val="1E293B"/>
                </a:solidFill>
              </a:defRPr>
            </a:pPr>
            <a:r>
              <a:t>A1: Rather than using a standalone generative model, we engineered a hybrid neuro-symbolic multi-agent architecture. It pairs NLP semantic extraction with a deterministic regulatory expert system, eliminating hallucinations and ensuring statutory auditability.</a:t>
            </a:r>
          </a:p>
          <a:p>
            <a:pPr>
              <a:defRPr sz="1200" b="1">
                <a:solidFill>
                  <a:srgbClr val="0D9488"/>
                </a:solidFill>
              </a:defRPr>
            </a:pPr>
            <a:r>
              <a:t>Q2: 'How do you handle conflicting data across food databases?'</a:t>
            </a:r>
          </a:p>
          <a:p>
            <a:pPr>
              <a:spcAft>
                <a:spcPts val="600"/>
              </a:spcAft>
              <a:defRPr sz="1100">
                <a:solidFill>
                  <a:srgbClr val="1E293B"/>
                </a:solidFill>
              </a:defRPr>
            </a:pPr>
            <a:r>
              <a:t>A2: We implement Bayesian multi-source credibility weighting. Verified government laboratory data (FSSAI at 0.98, USDA at 0.95) takes mathematical precedence over crowdsourced user uploads (0.85).</a:t>
            </a:r>
          </a:p>
          <a:p>
            <a:pPr>
              <a:defRPr sz="1200" b="1">
                <a:solidFill>
                  <a:srgbClr val="0D9488"/>
                </a:solidFill>
              </a:defRPr>
            </a:pPr>
            <a:r>
              <a:t>Q3: 'How does your recommendation engine prevent recommending bad alternatives?'</a:t>
            </a:r>
          </a:p>
          <a:p>
            <a:pPr>
              <a:spcAft>
                <a:spcPts val="600"/>
              </a:spcAft>
              <a:defRPr sz="1100">
                <a:solidFill>
                  <a:srgbClr val="1E293B"/>
                </a:solidFill>
              </a:defRPr>
            </a:pPr>
            <a:r>
              <a:t>A3: Through a two-stage process: an Honesty Gate disqualifies any candidate with contradicted marketing claims, followed by domain-specific multi-objective optimization.</a:t>
            </a:r>
          </a:p>
          <a:p>
            <a:pPr>
              <a:defRPr sz="1200" b="1">
                <a:solidFill>
                  <a:srgbClr val="0D9488"/>
                </a:solidFill>
              </a:defRPr>
            </a:pPr>
            <a:r>
              <a:t>Q4: 'How do you prevent junk foods from appearing healthy via protein claims?'</a:t>
            </a:r>
          </a:p>
          <a:p>
            <a:pPr>
              <a:spcAft>
                <a:spcPts val="600"/>
              </a:spcAft>
              <a:defRPr sz="1100">
                <a:solidFill>
                  <a:srgbClr val="1E293B"/>
                </a:solidFill>
              </a:defRPr>
            </a:pPr>
            <a:r>
              <a:t>A4: We implement the official FSANZ protein-capping rule: if negative points N &gt;= 11 and fruit/veg &lt; 80%, protein points are zeroed out to prevent junk foods from gaming the score.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320040"/>
          </a:xfrm>
          <a:prstGeom prst="rect">
            <a:avLst/>
          </a:prstGeom>
          <a:noFill/>
        </p:spPr>
        <p:txBody>
          <a:bodyPr wrap="none">
            <a:spAutoFit/>
          </a:bodyPr>
          <a:lstStyle/>
          <a:p>
            <a:pPr>
              <a:defRPr sz="1000" b="1">
                <a:solidFill>
                  <a:srgbClr val="06B6D4"/>
                </a:solidFill>
              </a:defRPr>
            </a:pPr>
            <a:r>
              <a:t>CONCLUSION &amp; IMPACT</a:t>
            </a:r>
          </a:p>
        </p:txBody>
      </p:sp>
      <p:sp>
        <p:nvSpPr>
          <p:cNvPr id="4" name="TextBox 3"/>
          <p:cNvSpPr txBox="1"/>
          <p:nvPr/>
        </p:nvSpPr>
        <p:spPr>
          <a:xfrm>
            <a:off x="731520" y="640080"/>
            <a:ext cx="10515600" cy="640080"/>
          </a:xfrm>
          <a:prstGeom prst="rect">
            <a:avLst/>
          </a:prstGeom>
          <a:noFill/>
        </p:spPr>
        <p:txBody>
          <a:bodyPr wrap="none">
            <a:spAutoFit/>
          </a:bodyPr>
          <a:lstStyle/>
          <a:p>
            <a:pPr>
              <a:defRPr sz="2400" b="1">
                <a:solidFill>
                  <a:srgbClr val="FFFFFF"/>
                </a:solidFill>
              </a:defRPr>
            </a:pPr>
            <a:r>
              <a:t>Transforming Consumer Health Through Verifiable AI</a:t>
            </a:r>
          </a:p>
        </p:txBody>
      </p:sp>
      <p:sp>
        <p:nvSpPr>
          <p:cNvPr id="5" name="Rounded Rectangle 4"/>
          <p:cNvSpPr/>
          <p:nvPr/>
        </p:nvSpPr>
        <p:spPr>
          <a:xfrm>
            <a:off x="731520" y="1463040"/>
            <a:ext cx="521208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00" b="1">
                <a:solidFill>
                  <a:srgbClr val="0D9488"/>
                </a:solidFill>
              </a:defRPr>
            </a:pPr>
            <a:r>
              <a:t>SUMMARY OF CONTRIBUTIONS</a:t>
            </a:r>
          </a:p>
          <a:p>
            <a:pPr>
              <a:spcAft>
                <a:spcPts val="800"/>
              </a:spcAft>
              <a:defRPr sz="1200">
                <a:solidFill>
                  <a:srgbClr val="E2E8F0"/>
                </a:solidFill>
              </a:defRPr>
            </a:pPr>
            <a:r>
              <a:t>✔ 1. Neuro-Symbolic Multi-Agent Framework eliminating LLM hallucinations in food verification.</a:t>
            </a:r>
          </a:p>
          <a:p>
            <a:pPr>
              <a:spcAft>
                <a:spcPts val="800"/>
              </a:spcAft>
              <a:defRPr sz="1200">
                <a:solidFill>
                  <a:srgbClr val="E2E8F0"/>
                </a:solidFill>
              </a:defRPr>
            </a:pPr>
            <a:r>
              <a:t>✔ 2. Codification of FSSAI &amp; FDA statutory legal regulations into deterministic automated audits.</a:t>
            </a:r>
          </a:p>
          <a:p>
            <a:pPr>
              <a:spcAft>
                <a:spcPts val="800"/>
              </a:spcAft>
              <a:defRPr sz="1200">
                <a:solidFill>
                  <a:srgbClr val="E2E8F0"/>
                </a:solidFill>
              </a:defRPr>
            </a:pPr>
            <a:r>
              <a:t>✔ 3. Mathematical MAS Metric (0-100) weighting multi-source credibility.</a:t>
            </a:r>
          </a:p>
          <a:p>
            <a:pPr>
              <a:spcAft>
                <a:spcPts val="800"/>
              </a:spcAft>
              <a:defRPr sz="1200">
                <a:solidFill>
                  <a:srgbClr val="E2E8F0"/>
                </a:solidFill>
              </a:defRPr>
            </a:pPr>
            <a:r>
              <a:t>✔ 4. Robust Nutri-Score Engine with Category-Aware Imputation for real-world incomplete labels.</a:t>
            </a:r>
          </a:p>
          <a:p>
            <a:pPr>
              <a:spcAft>
                <a:spcPts val="800"/>
              </a:spcAft>
              <a:defRPr sz="1200">
                <a:solidFill>
                  <a:srgbClr val="E2E8F0"/>
                </a:solidFill>
              </a:defRPr>
            </a:pPr>
            <a:r>
              <a:t>✔ 5. Domain-tailored alternative discovery with strict honesty gating.</a:t>
            </a:r>
          </a:p>
        </p:txBody>
      </p:sp>
      <p:sp>
        <p:nvSpPr>
          <p:cNvPr id="6" name="Rounded Rectangle 5"/>
          <p:cNvSpPr/>
          <p:nvPr/>
        </p:nvSpPr>
        <p:spPr>
          <a:xfrm>
            <a:off x="6217920" y="1463040"/>
            <a:ext cx="521208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00" b="1">
                <a:solidFill>
                  <a:srgbClr val="06B6D4"/>
                </a:solidFill>
              </a:defRPr>
            </a:pPr>
            <a:r>
              <a:t>FUTURE ROADMAP &amp; IMPACT</a:t>
            </a:r>
          </a:p>
          <a:p>
            <a:pPr>
              <a:defRPr sz="1200" b="1">
                <a:solidFill>
                  <a:srgbClr val="FFFFFF"/>
                </a:solidFill>
              </a:defRPr>
            </a:pPr>
            <a:r>
              <a:t>▶ Mobile OCR Edge Pipeline</a:t>
            </a:r>
          </a:p>
          <a:p>
            <a:pPr>
              <a:spcAft>
                <a:spcPts val="600"/>
              </a:spcAft>
              <a:defRPr sz="1100">
                <a:solidFill>
                  <a:srgbClr val="94A3B8"/>
                </a:solidFill>
              </a:defRPr>
            </a:pPr>
            <a:r>
              <a:t>Real-time on-device scanning of physical packaging in grocery stores.</a:t>
            </a:r>
          </a:p>
          <a:p>
            <a:pPr>
              <a:defRPr sz="1200" b="1">
                <a:solidFill>
                  <a:srgbClr val="FFFFFF"/>
                </a:solidFill>
              </a:defRPr>
            </a:pPr>
            <a:r>
              <a:t>▶ Allergen Cross-Contamination Warning</a:t>
            </a:r>
          </a:p>
          <a:p>
            <a:pPr>
              <a:spcAft>
                <a:spcPts val="600"/>
              </a:spcAft>
              <a:defRPr sz="1100">
                <a:solidFill>
                  <a:srgbClr val="94A3B8"/>
                </a:solidFill>
              </a:defRPr>
            </a:pPr>
            <a:r>
              <a:t>Micro-ingredient tracing for gluten, peanuts, and dairy cross-contact.</a:t>
            </a:r>
          </a:p>
          <a:p>
            <a:pPr>
              <a:defRPr sz="1200" b="1">
                <a:solidFill>
                  <a:srgbClr val="FFFFFF"/>
                </a:solidFill>
              </a:defRPr>
            </a:pPr>
            <a:r>
              <a:t>▶ Personalized Health Profile Integration</a:t>
            </a:r>
          </a:p>
          <a:p>
            <a:pPr>
              <a:spcAft>
                <a:spcPts val="600"/>
              </a:spcAft>
              <a:defRPr sz="1100">
                <a:solidFill>
                  <a:srgbClr val="94A3B8"/>
                </a:solidFill>
              </a:defRPr>
            </a:pPr>
            <a:r>
              <a:t>Tailoring recommendations to diabetic, hypertensive, or renal health profiles.</a:t>
            </a:r>
          </a:p>
          <a:p>
            <a:pPr>
              <a:defRPr sz="1200" b="1">
                <a:solidFill>
                  <a:srgbClr val="FFFFFF"/>
                </a:solidFill>
              </a:defRPr>
            </a:pPr>
            <a:r>
              <a:t>▶ Regulatory Enforcement Portal</a:t>
            </a:r>
          </a:p>
          <a:p>
            <a:pPr>
              <a:spcAft>
                <a:spcPts val="600"/>
              </a:spcAft>
              <a:defRPr sz="1100">
                <a:solidFill>
                  <a:srgbClr val="94A3B8"/>
                </a:solidFill>
              </a:defRPr>
            </a:pPr>
            <a:r>
              <a:t>Automated batch reporting of deceptive packaging to consumer protection forums.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